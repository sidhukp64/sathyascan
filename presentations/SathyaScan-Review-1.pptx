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Sathya means truth. The product idea in one line: you forward a suspicious message to a WhatsApp number and get back a verdict with real evidence, in your own language. This first review covers why the problem matters, what we propose to build, and how we plan to build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insight driving this project: the problem is not a shortage of fact-checks. It is that fact-checks live somewhere the misinformation never goes. Any solution has to work inside WhatsApp itself.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4 and 6 are the ones most student projects miss. We are calling them out in review 1 deliberately, because both shape the architecture rather than being bolted on later.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literature-survey conclusion. Each row is a real category of existing solution, and the last column is why none of them solve the specific problem we defined on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chevron flow is the whole product in five steps. Note step four — the guardrail — is the part that separates this from a chatbot wrapper, and we go deep on it in review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3 is unusual to state as a goal, but it is the one that most affects design. We would rather return 'not enough evidence' than a confident wrong answer.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Naming what is out of scope now prevents scope drift later, and the proactive-messaging exclusion in particular is a decision we formally locked — WhatsApp template approval is a dependency we chose to keep off the critical path.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panel asks one design question, it will probably be about this slide. The distinction between 'unverified' and 'insufficient evidence' is deliberate and is enforced in code, not just in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bottom note is the principle that makes this project testable without buying six API subscriptions up front. It also becomes the mechanism for honest status reporting later.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a decision with an alternative we rejected. Sarvam over Whisper and Google STT specifically because Malayalam and Tamil accuracy matters more to us than breadth of language coverage.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Presenting risks in review 1 rather than review 3 is intentional. Every one of these has a mitigation baked into the architecture, and we will report honestly on which ones remain open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phases with a working system at each boundary. The alternative — building all of one layer, then all of the next — would leave nothing demonstrable until the end.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commitment. Note the last line — an honest capability report — which we carry through both remaining reviews as a deliverable in its own right.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32520" y="-1371600"/>
            <a:ext cx="5486400" cy="5486400"/>
          </a:xfrm>
          <a:prstGeom prst="ellipse">
            <a:avLst/>
          </a:prstGeom>
          <a:solidFill>
            <a:srgbClr val="1E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509760" y="3246120"/>
            <a:ext cx="2194560" cy="2194560"/>
          </a:xfrm>
          <a:prstGeom prst="ellipse">
            <a:avLst/>
          </a:prstGeom>
          <a:noFill/>
          <a:ln w="1905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07008"/>
            <a:ext cx="7863840" cy="292608"/>
          </a:xfrm>
          <a:prstGeom prst="rect">
            <a:avLst/>
          </a:prstGeom>
          <a:noFill/>
        </p:spPr>
        <p:txBody>
          <a:bodyPr wrap="square" anchor="t" lIns="0" rIns="0" tIns="0" bIns="0">
            <a:spAutoFit/>
          </a:bodyPr>
          <a:lstStyle/>
          <a:p>
            <a:pPr algn="l">
              <a:lnSpc>
                <a:spcPct val="118000"/>
              </a:lnSpc>
              <a:spcAft>
                <a:spcPts val="400"/>
              </a:spcAft>
            </a:pPr>
            <a:r>
              <a:rPr sz="1200" b="1" i="0">
                <a:solidFill>
                  <a:srgbClr val="E8A33D"/>
                </a:solidFill>
                <a:latin typeface="Calibri"/>
              </a:rPr>
              <a:t>REVIEW 1 · PROBLEM &amp; PROPOSAL</a:t>
            </a:r>
          </a:p>
        </p:txBody>
      </p:sp>
      <p:sp>
        <p:nvSpPr>
          <p:cNvPr id="6" name="TextBox 5"/>
          <p:cNvSpPr txBox="1"/>
          <p:nvPr/>
        </p:nvSpPr>
        <p:spPr>
          <a:xfrm>
            <a:off x="594360" y="1627632"/>
            <a:ext cx="7955279" cy="1737360"/>
          </a:xfrm>
          <a:prstGeom prst="rect">
            <a:avLst/>
          </a:prstGeom>
          <a:noFill/>
        </p:spPr>
        <p:txBody>
          <a:bodyPr wrap="square" anchor="t" lIns="0" rIns="0" tIns="0" bIns="0">
            <a:spAutoFit/>
          </a:bodyPr>
          <a:lstStyle/>
          <a:p>
            <a:pPr algn="l">
              <a:lnSpc>
                <a:spcPct val="104000"/>
              </a:lnSpc>
              <a:spcAft>
                <a:spcPts val="400"/>
              </a:spcAft>
            </a:pPr>
            <a:r>
              <a:rPr sz="5200" b="1" i="0">
                <a:solidFill>
                  <a:srgbClr val="FFFFFF"/>
                </a:solidFill>
                <a:latin typeface="Cambria"/>
              </a:rPr>
              <a:t>SathyaScan</a:t>
            </a:r>
          </a:p>
        </p:txBody>
      </p:sp>
      <p:sp>
        <p:nvSpPr>
          <p:cNvPr id="7" name="TextBox 6"/>
          <p:cNvSpPr txBox="1"/>
          <p:nvPr/>
        </p:nvSpPr>
        <p:spPr>
          <a:xfrm>
            <a:off x="594360" y="3529584"/>
            <a:ext cx="7589520" cy="914400"/>
          </a:xfrm>
          <a:prstGeom prst="rect">
            <a:avLst/>
          </a:prstGeom>
          <a:noFill/>
        </p:spPr>
        <p:txBody>
          <a:bodyPr wrap="square" anchor="t" lIns="0" rIns="0" tIns="0" bIns="0">
            <a:spAutoFit/>
          </a:bodyPr>
          <a:lstStyle/>
          <a:p>
            <a:pPr algn="l">
              <a:lnSpc>
                <a:spcPct val="130000"/>
              </a:lnSpc>
              <a:spcAft>
                <a:spcPts val="400"/>
              </a:spcAft>
            </a:pPr>
            <a:r>
              <a:rPr sz="1700" b="0" i="0">
                <a:solidFill>
                  <a:srgbClr val="8A93AD"/>
                </a:solidFill>
                <a:latin typeface="Calibri"/>
              </a:rPr>
              <a:t>An AI fact-checking agent that lives inside WhatsApp — for Malayalam,
Tamil, Hindi and English</a:t>
            </a:r>
          </a:p>
        </p:txBody>
      </p:sp>
      <p:sp>
        <p:nvSpPr>
          <p:cNvPr id="8" name="TextBox 7"/>
          <p:cNvSpPr txBox="1"/>
          <p:nvPr/>
        </p:nvSpPr>
        <p:spPr>
          <a:xfrm>
            <a:off x="594360" y="5833872"/>
            <a:ext cx="7863840" cy="457200"/>
          </a:xfrm>
          <a:prstGeom prst="rect">
            <a:avLst/>
          </a:prstGeom>
          <a:noFill/>
        </p:spPr>
        <p:txBody>
          <a:bodyPr wrap="square" anchor="t" lIns="0" rIns="0" tIns="0" bIns="0">
            <a:spAutoFit/>
          </a:bodyPr>
          <a:lstStyle/>
          <a:p>
            <a:pPr algn="l">
              <a:lnSpc>
                <a:spcPct val="118000"/>
              </a:lnSpc>
              <a:spcAft>
                <a:spcPts val="400"/>
              </a:spcAft>
            </a:pPr>
            <a:r>
              <a:rPr sz="1150" b="0" i="0">
                <a:solidFill>
                  <a:srgbClr val="8A93AD"/>
                </a:solidFill>
                <a:latin typeface="Calibri"/>
              </a:rPr>
              <a:t>Project review presentation  ·  Stage 1 of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THE PROBLEM</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Misinformation spreads fastest where it is hardest to check</a:t>
            </a:r>
          </a:p>
        </p:txBody>
      </p:sp>
      <p:sp>
        <p:nvSpPr>
          <p:cNvPr id="5" name="Rounded Rectangle 4"/>
          <p:cNvSpPr/>
          <p:nvPr/>
        </p:nvSpPr>
        <p:spPr>
          <a:xfrm>
            <a:off x="594360" y="1664208"/>
            <a:ext cx="3496970" cy="1481328"/>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95528" y="1847088"/>
            <a:ext cx="3094634" cy="658368"/>
          </a:xfrm>
          <a:prstGeom prst="rect">
            <a:avLst/>
          </a:prstGeom>
          <a:noFill/>
        </p:spPr>
        <p:txBody>
          <a:bodyPr wrap="square" anchor="t" lIns="0" rIns="0" tIns="0" bIns="0">
            <a:spAutoFit/>
          </a:bodyPr>
          <a:lstStyle/>
          <a:p>
            <a:pPr algn="l">
              <a:lnSpc>
                <a:spcPct val="100000"/>
              </a:lnSpc>
              <a:spcAft>
                <a:spcPts val="400"/>
              </a:spcAft>
            </a:pPr>
            <a:r>
              <a:rPr sz="3800" b="1" i="0">
                <a:solidFill>
                  <a:srgbClr val="0F1631"/>
                </a:solidFill>
                <a:latin typeface="Cambria"/>
              </a:rPr>
              <a:t>500M+</a:t>
            </a:r>
          </a:p>
        </p:txBody>
      </p:sp>
      <p:sp>
        <p:nvSpPr>
          <p:cNvPr id="7" name="TextBox 6"/>
          <p:cNvSpPr txBox="1"/>
          <p:nvPr/>
        </p:nvSpPr>
        <p:spPr>
          <a:xfrm>
            <a:off x="795528" y="2505456"/>
            <a:ext cx="3094634" cy="566928"/>
          </a:xfrm>
          <a:prstGeom prst="rect">
            <a:avLst/>
          </a:prstGeom>
          <a:noFill/>
        </p:spPr>
        <p:txBody>
          <a:bodyPr wrap="square" anchor="t" lIns="0" rIns="0" tIns="0" bIns="0">
            <a:spAutoFit/>
          </a:bodyPr>
          <a:lstStyle/>
          <a:p>
            <a:pPr algn="l">
              <a:lnSpc>
                <a:spcPct val="116000"/>
              </a:lnSpc>
              <a:spcAft>
                <a:spcPts val="400"/>
              </a:spcAft>
            </a:pPr>
            <a:r>
              <a:rPr sz="1100" b="0" i="0">
                <a:solidFill>
                  <a:srgbClr val="5A6484"/>
                </a:solidFill>
                <a:latin typeface="Calibri"/>
              </a:rPr>
              <a:t>WhatsApp users in India — the platform's single largest market</a:t>
            </a:r>
          </a:p>
        </p:txBody>
      </p:sp>
      <p:sp>
        <p:nvSpPr>
          <p:cNvPr id="8" name="Rounded Rectangle 7"/>
          <p:cNvSpPr/>
          <p:nvPr/>
        </p:nvSpPr>
        <p:spPr>
          <a:xfrm>
            <a:off x="4347362" y="1664208"/>
            <a:ext cx="3496970" cy="1481328"/>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48530" y="1847088"/>
            <a:ext cx="3094634" cy="658368"/>
          </a:xfrm>
          <a:prstGeom prst="rect">
            <a:avLst/>
          </a:prstGeom>
          <a:noFill/>
        </p:spPr>
        <p:txBody>
          <a:bodyPr wrap="square" anchor="t" lIns="0" rIns="0" tIns="0" bIns="0">
            <a:spAutoFit/>
          </a:bodyPr>
          <a:lstStyle/>
          <a:p>
            <a:pPr algn="l">
              <a:lnSpc>
                <a:spcPct val="100000"/>
              </a:lnSpc>
              <a:spcAft>
                <a:spcPts val="400"/>
              </a:spcAft>
            </a:pPr>
            <a:r>
              <a:rPr sz="3800" b="1" i="0">
                <a:solidFill>
                  <a:srgbClr val="0F1631"/>
                </a:solidFill>
                <a:latin typeface="Cambria"/>
              </a:rPr>
              <a:t>Forwards</a:t>
            </a:r>
          </a:p>
        </p:txBody>
      </p:sp>
      <p:sp>
        <p:nvSpPr>
          <p:cNvPr id="10" name="TextBox 9"/>
          <p:cNvSpPr txBox="1"/>
          <p:nvPr/>
        </p:nvSpPr>
        <p:spPr>
          <a:xfrm>
            <a:off x="4548530" y="2505456"/>
            <a:ext cx="3094634" cy="566928"/>
          </a:xfrm>
          <a:prstGeom prst="rect">
            <a:avLst/>
          </a:prstGeom>
          <a:noFill/>
        </p:spPr>
        <p:txBody>
          <a:bodyPr wrap="square" anchor="t" lIns="0" rIns="0" tIns="0" bIns="0">
            <a:spAutoFit/>
          </a:bodyPr>
          <a:lstStyle/>
          <a:p>
            <a:pPr algn="l">
              <a:lnSpc>
                <a:spcPct val="116000"/>
              </a:lnSpc>
              <a:spcAft>
                <a:spcPts val="400"/>
              </a:spcAft>
            </a:pPr>
            <a:r>
              <a:rPr sz="1100" b="0" i="0">
                <a:solidFill>
                  <a:srgbClr val="5A6484"/>
                </a:solidFill>
                <a:latin typeface="Calibri"/>
              </a:rPr>
              <a:t>Most misinformation arrives as a forward from someone trusted, stripped of its source</a:t>
            </a:r>
          </a:p>
        </p:txBody>
      </p:sp>
      <p:sp>
        <p:nvSpPr>
          <p:cNvPr id="11" name="Rounded Rectangle 10"/>
          <p:cNvSpPr/>
          <p:nvPr/>
        </p:nvSpPr>
        <p:spPr>
          <a:xfrm>
            <a:off x="8100364" y="1664208"/>
            <a:ext cx="3496970" cy="1481328"/>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01532" y="1847088"/>
            <a:ext cx="3094634" cy="658368"/>
          </a:xfrm>
          <a:prstGeom prst="rect">
            <a:avLst/>
          </a:prstGeom>
          <a:noFill/>
        </p:spPr>
        <p:txBody>
          <a:bodyPr wrap="square" anchor="t" lIns="0" rIns="0" tIns="0" bIns="0">
            <a:spAutoFit/>
          </a:bodyPr>
          <a:lstStyle/>
          <a:p>
            <a:pPr algn="l">
              <a:lnSpc>
                <a:spcPct val="100000"/>
              </a:lnSpc>
              <a:spcAft>
                <a:spcPts val="400"/>
              </a:spcAft>
            </a:pPr>
            <a:r>
              <a:rPr sz="3800" b="1" i="0">
                <a:solidFill>
                  <a:srgbClr val="0F1631"/>
                </a:solidFill>
                <a:latin typeface="Cambria"/>
              </a:rPr>
              <a:t>4 languages</a:t>
            </a:r>
          </a:p>
        </p:txBody>
      </p:sp>
      <p:sp>
        <p:nvSpPr>
          <p:cNvPr id="13" name="TextBox 12"/>
          <p:cNvSpPr txBox="1"/>
          <p:nvPr/>
        </p:nvSpPr>
        <p:spPr>
          <a:xfrm>
            <a:off x="8301532" y="2505456"/>
            <a:ext cx="3094634" cy="566928"/>
          </a:xfrm>
          <a:prstGeom prst="rect">
            <a:avLst/>
          </a:prstGeom>
          <a:noFill/>
        </p:spPr>
        <p:txBody>
          <a:bodyPr wrap="square" anchor="t" lIns="0" rIns="0" tIns="0" bIns="0">
            <a:spAutoFit/>
          </a:bodyPr>
          <a:lstStyle/>
          <a:p>
            <a:pPr algn="l">
              <a:lnSpc>
                <a:spcPct val="116000"/>
              </a:lnSpc>
              <a:spcAft>
                <a:spcPts val="400"/>
              </a:spcAft>
            </a:pPr>
            <a:r>
              <a:rPr sz="1100" b="0" i="0">
                <a:solidFill>
                  <a:srgbClr val="5A6484"/>
                </a:solidFill>
                <a:latin typeface="Calibri"/>
              </a:rPr>
              <a:t>Malayalam, Tamil, Hindi and English all circulate in the same family group</a:t>
            </a:r>
          </a:p>
        </p:txBody>
      </p:sp>
      <p:sp>
        <p:nvSpPr>
          <p:cNvPr id="14" name="Rounded Rectangle 13"/>
          <p:cNvSpPr/>
          <p:nvPr/>
        </p:nvSpPr>
        <p:spPr>
          <a:xfrm>
            <a:off x="594360" y="3447288"/>
            <a:ext cx="5364327" cy="2698495"/>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3666744"/>
            <a:ext cx="4815687" cy="365760"/>
          </a:xfrm>
          <a:prstGeom prst="rect">
            <a:avLst/>
          </a:prstGeom>
          <a:noFill/>
        </p:spPr>
        <p:txBody>
          <a:bodyPr wrap="square" anchor="t" lIns="0" rIns="0" tIns="0" bIns="0">
            <a:spAutoFit/>
          </a:bodyPr>
          <a:lstStyle/>
          <a:p>
            <a:pPr algn="l">
              <a:lnSpc>
                <a:spcPct val="118000"/>
              </a:lnSpc>
              <a:spcAft>
                <a:spcPts val="400"/>
              </a:spcAft>
            </a:pPr>
            <a:r>
              <a:rPr sz="1500" b="1" i="0">
                <a:solidFill>
                  <a:srgbClr val="0F1631"/>
                </a:solidFill>
                <a:latin typeface="Cambria"/>
              </a:rPr>
              <a:t>Why WhatsApp specifically</a:t>
            </a:r>
          </a:p>
        </p:txBody>
      </p:sp>
      <p:sp>
        <p:nvSpPr>
          <p:cNvPr id="16" name="TextBox 15"/>
          <p:cNvSpPr txBox="1"/>
          <p:nvPr/>
        </p:nvSpPr>
        <p:spPr>
          <a:xfrm>
            <a:off x="868680" y="4142232"/>
            <a:ext cx="4815687" cy="1838959"/>
          </a:xfrm>
          <a:prstGeom prst="rect">
            <a:avLst/>
          </a:prstGeom>
          <a:noFill/>
        </p:spPr>
        <p:txBody>
          <a:bodyPr wrap="square" anchor="t" lIns="0" rIns="0" tIns="0" bIns="0">
            <a:spAutoFit/>
          </a:bodyPr>
          <a:lstStyle/>
          <a:p>
            <a:pPr algn="l">
              <a:lnSpc>
                <a:spcPct val="118000"/>
              </a:lnSpc>
              <a:spcAft>
                <a:spcPts val="700"/>
              </a:spcAft>
            </a:pPr>
            <a:r>
              <a:rPr sz="1100" b="0" i="0">
                <a:solidFill>
                  <a:srgbClr val="5A6484"/>
                </a:solidFill>
                <a:latin typeface="Calibri"/>
              </a:rPr>
              <a:t>•  Closed network — no public timeline, so nothing is externally visible or correctable</a:t>
            </a:r>
          </a:p>
          <a:p>
            <a:pPr algn="l">
              <a:lnSpc>
                <a:spcPct val="118000"/>
              </a:lnSpc>
              <a:spcAft>
                <a:spcPts val="700"/>
              </a:spcAft>
            </a:pPr>
            <a:r>
              <a:rPr sz="1100" b="0" i="0">
                <a:solidFill>
                  <a:srgbClr val="5A6484"/>
                </a:solidFill>
                <a:latin typeface="Calibri"/>
              </a:rPr>
              <a:t>•  End-to-end encrypted, so platform-side moderation is not possible by design</a:t>
            </a:r>
          </a:p>
          <a:p>
            <a:pPr algn="l">
              <a:lnSpc>
                <a:spcPct val="118000"/>
              </a:lnSpc>
              <a:spcAft>
                <a:spcPts val="700"/>
              </a:spcAft>
            </a:pPr>
            <a:r>
              <a:rPr sz="1100" b="0" i="0">
                <a:solidFill>
                  <a:srgbClr val="5A6484"/>
                </a:solidFill>
                <a:latin typeface="Calibri"/>
              </a:rPr>
              <a:t>•  Trust comes from the sender, not the source: a forward from family carries social weight</a:t>
            </a:r>
          </a:p>
          <a:p>
            <a:pPr algn="l">
              <a:lnSpc>
                <a:spcPct val="118000"/>
              </a:lnSpc>
              <a:spcAft>
                <a:spcPts val="700"/>
              </a:spcAft>
            </a:pPr>
            <a:r>
              <a:rPr sz="1100" b="0" i="0">
                <a:solidFill>
                  <a:srgbClr val="5A6484"/>
                </a:solidFill>
                <a:latin typeface="Calibri"/>
              </a:rPr>
              <a:t>•  Media-first — screenshots, voice notes and videos, not linkable articles</a:t>
            </a:r>
          </a:p>
        </p:txBody>
      </p:sp>
      <p:sp>
        <p:nvSpPr>
          <p:cNvPr id="17" name="Rounded Rectangle 16"/>
          <p:cNvSpPr/>
          <p:nvPr/>
        </p:nvSpPr>
        <p:spPr>
          <a:xfrm>
            <a:off x="6233007" y="3447288"/>
            <a:ext cx="5364327" cy="2698495"/>
          </a:xfrm>
          <a:prstGeom prst="roundRect">
            <a:avLst>
              <a:gd name="adj" fmla="val 4500"/>
            </a:avLst>
          </a:prstGeom>
          <a:solidFill>
            <a:srgbClr val="FDF3E0"/>
          </a:solidFill>
          <a:ln w="12700">
            <a:solidFill>
              <a:srgbClr val="F0DD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07327" y="3666744"/>
            <a:ext cx="4815687" cy="365760"/>
          </a:xfrm>
          <a:prstGeom prst="rect">
            <a:avLst/>
          </a:prstGeom>
          <a:noFill/>
        </p:spPr>
        <p:txBody>
          <a:bodyPr wrap="square" anchor="t" lIns="0" rIns="0" tIns="0" bIns="0">
            <a:spAutoFit/>
          </a:bodyPr>
          <a:lstStyle/>
          <a:p>
            <a:pPr algn="l">
              <a:lnSpc>
                <a:spcPct val="118000"/>
              </a:lnSpc>
              <a:spcAft>
                <a:spcPts val="400"/>
              </a:spcAft>
            </a:pPr>
            <a:r>
              <a:rPr sz="1500" b="1" i="0">
                <a:solidFill>
                  <a:srgbClr val="0F1631"/>
                </a:solidFill>
                <a:latin typeface="Cambria"/>
              </a:rPr>
              <a:t>Why existing fact-checks don't reach</a:t>
            </a:r>
          </a:p>
        </p:txBody>
      </p:sp>
      <p:sp>
        <p:nvSpPr>
          <p:cNvPr id="19" name="TextBox 18"/>
          <p:cNvSpPr txBox="1"/>
          <p:nvPr/>
        </p:nvSpPr>
        <p:spPr>
          <a:xfrm>
            <a:off x="6507327" y="4142232"/>
            <a:ext cx="4815687" cy="1838959"/>
          </a:xfrm>
          <a:prstGeom prst="rect">
            <a:avLst/>
          </a:prstGeom>
          <a:noFill/>
        </p:spPr>
        <p:txBody>
          <a:bodyPr wrap="square" anchor="t" lIns="0" rIns="0" tIns="0" bIns="0">
            <a:spAutoFit/>
          </a:bodyPr>
          <a:lstStyle/>
          <a:p>
            <a:pPr algn="l">
              <a:lnSpc>
                <a:spcPct val="118000"/>
              </a:lnSpc>
              <a:spcAft>
                <a:spcPts val="700"/>
              </a:spcAft>
            </a:pPr>
            <a:r>
              <a:rPr sz="1100" b="0" i="0">
                <a:solidFill>
                  <a:srgbClr val="5A6484"/>
                </a:solidFill>
                <a:latin typeface="Calibri"/>
              </a:rPr>
              <a:t>•  Fact-checking sites require the user to leave the app, search, and read English</a:t>
            </a:r>
          </a:p>
          <a:p>
            <a:pPr algn="l">
              <a:lnSpc>
                <a:spcPct val="118000"/>
              </a:lnSpc>
              <a:spcAft>
                <a:spcPts val="700"/>
              </a:spcAft>
            </a:pPr>
            <a:r>
              <a:rPr sz="1100" b="0" i="0">
                <a:solidFill>
                  <a:srgbClr val="5A6484"/>
                </a:solidFill>
                <a:latin typeface="Calibri"/>
              </a:rPr>
              <a:t>•  Published debunks arrive days later, long after the forward has moved on</a:t>
            </a:r>
          </a:p>
          <a:p>
            <a:pPr algn="l">
              <a:lnSpc>
                <a:spcPct val="118000"/>
              </a:lnSpc>
              <a:spcAft>
                <a:spcPts val="700"/>
              </a:spcAft>
            </a:pPr>
            <a:r>
              <a:rPr sz="1100" b="0" i="0">
                <a:solidFill>
                  <a:srgbClr val="5A6484"/>
                </a:solidFill>
                <a:latin typeface="Calibri"/>
              </a:rPr>
              <a:t>•  Regional-language coverage is thin — Malayalam and Tamil especially</a:t>
            </a:r>
          </a:p>
          <a:p>
            <a:pPr algn="l">
              <a:lnSpc>
                <a:spcPct val="118000"/>
              </a:lnSpc>
              <a:spcAft>
                <a:spcPts val="700"/>
              </a:spcAft>
            </a:pPr>
            <a:r>
              <a:rPr sz="1100" b="0" i="0">
                <a:solidFill>
                  <a:srgbClr val="5A6484"/>
                </a:solidFill>
                <a:latin typeface="Calibri"/>
              </a:rPr>
              <a:t>•  Nothing meets the user where the message actually arrived</a:t>
            </a:r>
          </a:p>
        </p:txBody>
      </p:sp>
      <p:sp>
        <p:nvSpPr>
          <p:cNvPr id="20" name="TextBox 19"/>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PROBLEM ANALYSIS</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Four things make this genuinely difficult</a:t>
            </a:r>
          </a:p>
        </p:txBody>
      </p:sp>
      <p:sp>
        <p:nvSpPr>
          <p:cNvPr id="5" name="Rounded Rectangle 4"/>
          <p:cNvSpPr/>
          <p:nvPr/>
        </p:nvSpPr>
        <p:spPr>
          <a:xfrm>
            <a:off x="594360" y="1664208"/>
            <a:ext cx="3509162" cy="1900681"/>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3816" y="1901952"/>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1</a:t>
            </a:r>
          </a:p>
        </p:txBody>
      </p:sp>
      <p:sp>
        <p:nvSpPr>
          <p:cNvPr id="7" name="TextBox 6"/>
          <p:cNvSpPr txBox="1"/>
          <p:nvPr/>
        </p:nvSpPr>
        <p:spPr>
          <a:xfrm>
            <a:off x="813816" y="2414016"/>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Mixed input types</a:t>
            </a:r>
          </a:p>
        </p:txBody>
      </p:sp>
      <p:sp>
        <p:nvSpPr>
          <p:cNvPr id="8" name="TextBox 7"/>
          <p:cNvSpPr txBox="1"/>
          <p:nvPr/>
        </p:nvSpPr>
        <p:spPr>
          <a:xfrm>
            <a:off x="813816" y="2668778"/>
            <a:ext cx="3070250" cy="76809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A single claim can arrive as typed text, a link, a screenshot of another chat, a photo of a newspaper, or a voice note. Each needs a different extraction path before any checking begins.</a:t>
            </a:r>
          </a:p>
        </p:txBody>
      </p:sp>
      <p:sp>
        <p:nvSpPr>
          <p:cNvPr id="9" name="Rounded Rectangle 8"/>
          <p:cNvSpPr/>
          <p:nvPr/>
        </p:nvSpPr>
        <p:spPr>
          <a:xfrm>
            <a:off x="4341266" y="1664208"/>
            <a:ext cx="3509162" cy="1900681"/>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560722" y="1901952"/>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2</a:t>
            </a:r>
          </a:p>
        </p:txBody>
      </p:sp>
      <p:sp>
        <p:nvSpPr>
          <p:cNvPr id="11" name="TextBox 10"/>
          <p:cNvSpPr txBox="1"/>
          <p:nvPr/>
        </p:nvSpPr>
        <p:spPr>
          <a:xfrm>
            <a:off x="4560722" y="2414016"/>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Code-mixed language</a:t>
            </a:r>
          </a:p>
        </p:txBody>
      </p:sp>
      <p:sp>
        <p:nvSpPr>
          <p:cNvPr id="12" name="TextBox 11"/>
          <p:cNvSpPr txBox="1"/>
          <p:nvPr/>
        </p:nvSpPr>
        <p:spPr>
          <a:xfrm>
            <a:off x="4560722" y="2668778"/>
            <a:ext cx="3070250" cy="76809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Real messages switch scripts mid-sentence — Malayalam in Latin letters, English words in Devanagari. Language detection cannot be assumed.</a:t>
            </a:r>
          </a:p>
        </p:txBody>
      </p:sp>
      <p:sp>
        <p:nvSpPr>
          <p:cNvPr id="13" name="Rounded Rectangle 12"/>
          <p:cNvSpPr/>
          <p:nvPr/>
        </p:nvSpPr>
        <p:spPr>
          <a:xfrm>
            <a:off x="8088172" y="1664208"/>
            <a:ext cx="3509162" cy="1900681"/>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307628" y="1901952"/>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3</a:t>
            </a:r>
          </a:p>
        </p:txBody>
      </p:sp>
      <p:sp>
        <p:nvSpPr>
          <p:cNvPr id="15" name="TextBox 14"/>
          <p:cNvSpPr txBox="1"/>
          <p:nvPr/>
        </p:nvSpPr>
        <p:spPr>
          <a:xfrm>
            <a:off x="8307628" y="2414016"/>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Evidence, not opinion</a:t>
            </a:r>
          </a:p>
        </p:txBody>
      </p:sp>
      <p:sp>
        <p:nvSpPr>
          <p:cNvPr id="16" name="TextBox 15"/>
          <p:cNvSpPr txBox="1"/>
          <p:nvPr/>
        </p:nvSpPr>
        <p:spPr>
          <a:xfrm>
            <a:off x="8307628" y="2668778"/>
            <a:ext cx="3070250" cy="76809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Returning "this is false" without sources is worthless and legally risky. Every verdict must cite retrievable evidence.</a:t>
            </a:r>
          </a:p>
        </p:txBody>
      </p:sp>
      <p:sp>
        <p:nvSpPr>
          <p:cNvPr id="17" name="Rounded Rectangle 16"/>
          <p:cNvSpPr/>
          <p:nvPr/>
        </p:nvSpPr>
        <p:spPr>
          <a:xfrm>
            <a:off x="594360" y="3802634"/>
            <a:ext cx="3509162" cy="1900681"/>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13816" y="4040377"/>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4</a:t>
            </a:r>
          </a:p>
        </p:txBody>
      </p:sp>
      <p:sp>
        <p:nvSpPr>
          <p:cNvPr id="19" name="TextBox 18"/>
          <p:cNvSpPr txBox="1"/>
          <p:nvPr/>
        </p:nvSpPr>
        <p:spPr>
          <a:xfrm>
            <a:off x="813816" y="4552441"/>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Uncertainty is the normal case</a:t>
            </a:r>
          </a:p>
        </p:txBody>
      </p:sp>
      <p:sp>
        <p:nvSpPr>
          <p:cNvPr id="20" name="TextBox 19"/>
          <p:cNvSpPr txBox="1"/>
          <p:nvPr/>
        </p:nvSpPr>
        <p:spPr>
          <a:xfrm>
            <a:off x="813816" y="4807203"/>
            <a:ext cx="3070250" cy="76809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Most forwards are neither cleanly true nor cleanly false. A system that only outputs true/false will be confidently wrong.</a:t>
            </a:r>
          </a:p>
        </p:txBody>
      </p:sp>
      <p:sp>
        <p:nvSpPr>
          <p:cNvPr id="21" name="Rounded Rectangle 20"/>
          <p:cNvSpPr/>
          <p:nvPr/>
        </p:nvSpPr>
        <p:spPr>
          <a:xfrm>
            <a:off x="4341266" y="3802634"/>
            <a:ext cx="3509162" cy="1900681"/>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4560722" y="4040377"/>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5</a:t>
            </a:r>
          </a:p>
        </p:txBody>
      </p:sp>
      <p:sp>
        <p:nvSpPr>
          <p:cNvPr id="23" name="TextBox 22"/>
          <p:cNvSpPr txBox="1"/>
          <p:nvPr/>
        </p:nvSpPr>
        <p:spPr>
          <a:xfrm>
            <a:off x="4560722" y="4552441"/>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Privacy is non-negotiable</a:t>
            </a:r>
          </a:p>
        </p:txBody>
      </p:sp>
      <p:sp>
        <p:nvSpPr>
          <p:cNvPr id="24" name="TextBox 23"/>
          <p:cNvSpPr txBox="1"/>
          <p:nvPr/>
        </p:nvSpPr>
        <p:spPr>
          <a:xfrm>
            <a:off x="4560722" y="4807203"/>
            <a:ext cx="3070250" cy="76809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Phone numbers and message content are sensitive personal data under India's DPDP Act. Storage has to be minimal and encrypted.</a:t>
            </a:r>
          </a:p>
        </p:txBody>
      </p:sp>
      <p:sp>
        <p:nvSpPr>
          <p:cNvPr id="25" name="Rounded Rectangle 24"/>
          <p:cNvSpPr/>
          <p:nvPr/>
        </p:nvSpPr>
        <p:spPr>
          <a:xfrm>
            <a:off x="8088172" y="3802634"/>
            <a:ext cx="3509162" cy="1900681"/>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307628" y="4040377"/>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6</a:t>
            </a:r>
          </a:p>
        </p:txBody>
      </p:sp>
      <p:sp>
        <p:nvSpPr>
          <p:cNvPr id="27" name="TextBox 26"/>
          <p:cNvSpPr txBox="1"/>
          <p:nvPr/>
        </p:nvSpPr>
        <p:spPr>
          <a:xfrm>
            <a:off x="8307628" y="4552441"/>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Harmful content will arrive</a:t>
            </a:r>
          </a:p>
        </p:txBody>
      </p:sp>
      <p:sp>
        <p:nvSpPr>
          <p:cNvPr id="28" name="TextBox 27"/>
          <p:cNvSpPr txBox="1"/>
          <p:nvPr/>
        </p:nvSpPr>
        <p:spPr>
          <a:xfrm>
            <a:off x="8307628" y="4807203"/>
            <a:ext cx="3070250" cy="76809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An open inbox receives illegal material eventually. That is a safety and legal problem, not an engineering afterthought.</a:t>
            </a:r>
          </a:p>
        </p:txBody>
      </p:sp>
      <p:sp>
        <p:nvSpPr>
          <p:cNvPr id="29" name="TextBox 28"/>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COMPARATIVE STUDY</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Where current approaches stop short</a:t>
            </a:r>
          </a:p>
        </p:txBody>
      </p:sp>
      <p:sp>
        <p:nvSpPr>
          <p:cNvPr id="5" name="Rounded Rectangle 4"/>
          <p:cNvSpPr/>
          <p:nvPr/>
        </p:nvSpPr>
        <p:spPr>
          <a:xfrm>
            <a:off x="594360" y="1664208"/>
            <a:ext cx="11002975" cy="402336"/>
          </a:xfrm>
          <a:prstGeom prst="roundRect">
            <a:avLst>
              <a:gd name="adj" fmla="val 4500"/>
            </a:avLst>
          </a:prstGeom>
          <a:solidFill>
            <a:srgbClr val="0F1631"/>
          </a:solidFill>
          <a:ln w="12700">
            <a:solidFill>
              <a:srgbClr val="0F16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0664" y="1719072"/>
            <a:ext cx="3105988" cy="292608"/>
          </a:xfrm>
          <a:prstGeom prst="rect">
            <a:avLst/>
          </a:prstGeom>
          <a:noFill/>
        </p:spPr>
        <p:txBody>
          <a:bodyPr wrap="square" anchor="ctr" lIns="0" rIns="0" tIns="0" bIns="0">
            <a:spAutoFit/>
          </a:bodyPr>
          <a:lstStyle/>
          <a:p>
            <a:pPr algn="l">
              <a:lnSpc>
                <a:spcPct val="118000"/>
              </a:lnSpc>
              <a:spcAft>
                <a:spcPts val="400"/>
              </a:spcAft>
            </a:pPr>
            <a:r>
              <a:rPr sz="1000" b="1" i="0">
                <a:solidFill>
                  <a:srgbClr val="FFFFFF"/>
                </a:solidFill>
                <a:latin typeface="Calibri"/>
              </a:rPr>
              <a:t>Approach</a:t>
            </a:r>
          </a:p>
        </p:txBody>
      </p:sp>
      <p:sp>
        <p:nvSpPr>
          <p:cNvPr id="7" name="TextBox 6"/>
          <p:cNvSpPr txBox="1"/>
          <p:nvPr/>
        </p:nvSpPr>
        <p:spPr>
          <a:xfrm>
            <a:off x="4102684" y="1719072"/>
            <a:ext cx="3258807" cy="292608"/>
          </a:xfrm>
          <a:prstGeom prst="rect">
            <a:avLst/>
          </a:prstGeom>
          <a:noFill/>
        </p:spPr>
        <p:txBody>
          <a:bodyPr wrap="square" anchor="ctr" lIns="0" rIns="0" tIns="0" bIns="0">
            <a:spAutoFit/>
          </a:bodyPr>
          <a:lstStyle/>
          <a:p>
            <a:pPr algn="l">
              <a:lnSpc>
                <a:spcPct val="118000"/>
              </a:lnSpc>
              <a:spcAft>
                <a:spcPts val="400"/>
              </a:spcAft>
            </a:pPr>
            <a:r>
              <a:rPr sz="1000" b="1" i="0">
                <a:solidFill>
                  <a:srgbClr val="FFFFFF"/>
                </a:solidFill>
                <a:latin typeface="Calibri"/>
              </a:rPr>
              <a:t>What it does well</a:t>
            </a:r>
          </a:p>
        </p:txBody>
      </p:sp>
      <p:sp>
        <p:nvSpPr>
          <p:cNvPr id="8" name="TextBox 7"/>
          <p:cNvSpPr txBox="1"/>
          <p:nvPr/>
        </p:nvSpPr>
        <p:spPr>
          <a:xfrm>
            <a:off x="7617523" y="1719072"/>
            <a:ext cx="3870083" cy="292608"/>
          </a:xfrm>
          <a:prstGeom prst="rect">
            <a:avLst/>
          </a:prstGeom>
          <a:noFill/>
        </p:spPr>
        <p:txBody>
          <a:bodyPr wrap="square" anchor="ctr" lIns="0" rIns="0" tIns="0" bIns="0">
            <a:spAutoFit/>
          </a:bodyPr>
          <a:lstStyle/>
          <a:p>
            <a:pPr algn="l">
              <a:lnSpc>
                <a:spcPct val="118000"/>
              </a:lnSpc>
              <a:spcAft>
                <a:spcPts val="400"/>
              </a:spcAft>
            </a:pPr>
            <a:r>
              <a:rPr sz="1000" b="1" i="0">
                <a:solidFill>
                  <a:srgbClr val="FFFFFF"/>
                </a:solidFill>
                <a:latin typeface="Calibri"/>
              </a:rPr>
              <a:t>Where it fails for this problem</a:t>
            </a:r>
          </a:p>
        </p:txBody>
      </p:sp>
      <p:sp>
        <p:nvSpPr>
          <p:cNvPr id="9" name="Rounded Rectangle 8"/>
          <p:cNvSpPr/>
          <p:nvPr/>
        </p:nvSpPr>
        <p:spPr>
          <a:xfrm>
            <a:off x="594360" y="2066544"/>
            <a:ext cx="11002975" cy="566928"/>
          </a:xfrm>
          <a:prstGeom prst="roundRect">
            <a:avLst>
              <a:gd name="adj" fmla="val 1000"/>
            </a:avLst>
          </a:prstGeom>
          <a:solidFill>
            <a:srgbClr val="EEF2FA"/>
          </a:solidFill>
          <a:ln w="12700">
            <a:solidFill>
              <a:srgbClr val="EEF2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0664" y="2084832"/>
            <a:ext cx="3105988"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Fact-checking websites
(Alt News, BOOM, Factly)</a:t>
            </a:r>
          </a:p>
        </p:txBody>
      </p:sp>
      <p:sp>
        <p:nvSpPr>
          <p:cNvPr id="11" name="TextBox 10"/>
          <p:cNvSpPr txBox="1"/>
          <p:nvPr/>
        </p:nvSpPr>
        <p:spPr>
          <a:xfrm>
            <a:off x="4102684" y="2084832"/>
            <a:ext cx="3258807"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Rigorous human verification, strong credibility</a:t>
            </a:r>
          </a:p>
        </p:txBody>
      </p:sp>
      <p:sp>
        <p:nvSpPr>
          <p:cNvPr id="12" name="TextBox 11"/>
          <p:cNvSpPr txBox="1"/>
          <p:nvPr/>
        </p:nvSpPr>
        <p:spPr>
          <a:xfrm>
            <a:off x="7617523" y="2084832"/>
            <a:ext cx="3870083"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User must leave WhatsApp and search in English; days-long latency</a:t>
            </a:r>
          </a:p>
        </p:txBody>
      </p:sp>
      <p:sp>
        <p:nvSpPr>
          <p:cNvPr id="13" name="TextBox 12"/>
          <p:cNvSpPr txBox="1"/>
          <p:nvPr/>
        </p:nvSpPr>
        <p:spPr>
          <a:xfrm>
            <a:off x="740664" y="2651760"/>
            <a:ext cx="3105988"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Platform tip lines</a:t>
            </a:r>
          </a:p>
        </p:txBody>
      </p:sp>
      <p:sp>
        <p:nvSpPr>
          <p:cNvPr id="14" name="TextBox 13"/>
          <p:cNvSpPr txBox="1"/>
          <p:nvPr/>
        </p:nvSpPr>
        <p:spPr>
          <a:xfrm>
            <a:off x="4102684" y="2651760"/>
            <a:ext cx="3258807"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Reachable inside WhatsApp</a:t>
            </a:r>
          </a:p>
        </p:txBody>
      </p:sp>
      <p:sp>
        <p:nvSpPr>
          <p:cNvPr id="15" name="TextBox 14"/>
          <p:cNvSpPr txBox="1"/>
          <p:nvPr/>
        </p:nvSpPr>
        <p:spPr>
          <a:xfrm>
            <a:off x="7617523" y="2651760"/>
            <a:ext cx="3870083"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Human-staffed, so response is slow and coverage is limited to a few languages</a:t>
            </a:r>
          </a:p>
        </p:txBody>
      </p:sp>
      <p:sp>
        <p:nvSpPr>
          <p:cNvPr id="16" name="Rounded Rectangle 15"/>
          <p:cNvSpPr/>
          <p:nvPr/>
        </p:nvSpPr>
        <p:spPr>
          <a:xfrm>
            <a:off x="594360" y="3200400"/>
            <a:ext cx="11002975" cy="566928"/>
          </a:xfrm>
          <a:prstGeom prst="roundRect">
            <a:avLst>
              <a:gd name="adj" fmla="val 1000"/>
            </a:avLst>
          </a:prstGeom>
          <a:solidFill>
            <a:srgbClr val="EEF2FA"/>
          </a:solidFill>
          <a:ln w="12700">
            <a:solidFill>
              <a:srgbClr val="EEF2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0664" y="3218688"/>
            <a:ext cx="3105988"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Reverse image search</a:t>
            </a:r>
          </a:p>
        </p:txBody>
      </p:sp>
      <p:sp>
        <p:nvSpPr>
          <p:cNvPr id="18" name="TextBox 17"/>
          <p:cNvSpPr txBox="1"/>
          <p:nvPr/>
        </p:nvSpPr>
        <p:spPr>
          <a:xfrm>
            <a:off x="4102684" y="3218688"/>
            <a:ext cx="3258807"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Good at finding an image's origin</a:t>
            </a:r>
          </a:p>
        </p:txBody>
      </p:sp>
      <p:sp>
        <p:nvSpPr>
          <p:cNvPr id="19" name="TextBox 18"/>
          <p:cNvSpPr txBox="1"/>
          <p:nvPr/>
        </p:nvSpPr>
        <p:spPr>
          <a:xfrm>
            <a:off x="7617523" y="3218688"/>
            <a:ext cx="3870083"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No verdict, no evidence synthesis, useless for text or audio claims</a:t>
            </a:r>
          </a:p>
        </p:txBody>
      </p:sp>
      <p:sp>
        <p:nvSpPr>
          <p:cNvPr id="20" name="TextBox 19"/>
          <p:cNvSpPr txBox="1"/>
          <p:nvPr/>
        </p:nvSpPr>
        <p:spPr>
          <a:xfrm>
            <a:off x="740664" y="3785615"/>
            <a:ext cx="3105988"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General-purpose chatbots</a:t>
            </a:r>
          </a:p>
        </p:txBody>
      </p:sp>
      <p:sp>
        <p:nvSpPr>
          <p:cNvPr id="21" name="TextBox 20"/>
          <p:cNvSpPr txBox="1"/>
          <p:nvPr/>
        </p:nvSpPr>
        <p:spPr>
          <a:xfrm>
            <a:off x="4102684" y="3785615"/>
            <a:ext cx="3258807"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Fluent in all four languages</a:t>
            </a:r>
          </a:p>
        </p:txBody>
      </p:sp>
      <p:sp>
        <p:nvSpPr>
          <p:cNvPr id="22" name="TextBox 21"/>
          <p:cNvSpPr txBox="1"/>
          <p:nvPr/>
        </p:nvSpPr>
        <p:spPr>
          <a:xfrm>
            <a:off x="7617523" y="3785615"/>
            <a:ext cx="3870083" cy="530352"/>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No live evidence retrieval — will confidently invent a citation</a:t>
            </a:r>
          </a:p>
        </p:txBody>
      </p:sp>
      <p:sp>
        <p:nvSpPr>
          <p:cNvPr id="23" name="Rounded Rectangle 22"/>
          <p:cNvSpPr/>
          <p:nvPr/>
        </p:nvSpPr>
        <p:spPr>
          <a:xfrm>
            <a:off x="594360" y="4608576"/>
            <a:ext cx="11002975" cy="1133856"/>
          </a:xfrm>
          <a:prstGeom prst="roundRect">
            <a:avLst>
              <a:gd name="adj" fmla="val 4500"/>
            </a:avLst>
          </a:prstGeom>
          <a:solidFill>
            <a:srgbClr val="FDF3E0"/>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68680" y="4828032"/>
            <a:ext cx="420624" cy="420624"/>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mbria"/>
              </a:rPr>
              <a:t>!</a:t>
            </a:r>
          </a:p>
        </p:txBody>
      </p:sp>
      <p:sp>
        <p:nvSpPr>
          <p:cNvPr id="25" name="TextBox 24"/>
          <p:cNvSpPr txBox="1"/>
          <p:nvPr/>
        </p:nvSpPr>
        <p:spPr>
          <a:xfrm>
            <a:off x="1453895" y="4791456"/>
            <a:ext cx="9814255" cy="749808"/>
          </a:xfrm>
          <a:prstGeom prst="rect">
            <a:avLst/>
          </a:prstGeom>
          <a:noFill/>
        </p:spPr>
        <p:txBody>
          <a:bodyPr wrap="square" anchor="t" lIns="0" rIns="0" tIns="0" bIns="0">
            <a:spAutoFit/>
          </a:bodyPr>
          <a:lstStyle/>
          <a:p>
            <a:pPr algn="l">
              <a:lnSpc>
                <a:spcPct val="118000"/>
              </a:lnSpc>
              <a:spcAft>
                <a:spcPts val="300"/>
              </a:spcAft>
            </a:pPr>
            <a:r>
              <a:rPr sz="1300" b="1" i="0">
                <a:solidFill>
                  <a:srgbClr val="0F1631"/>
                </a:solidFill>
                <a:latin typeface="Cambria"/>
              </a:rPr>
              <a:t>The gap we are targeting</a:t>
            </a:r>
          </a:p>
          <a:p>
            <a:pPr algn="l">
              <a:lnSpc>
                <a:spcPct val="120000"/>
              </a:lnSpc>
              <a:spcAft>
                <a:spcPts val="400"/>
              </a:spcAft>
            </a:pPr>
            <a:r>
              <a:rPr sz="1100" b="0" i="0">
                <a:solidFill>
                  <a:srgbClr val="5A6484"/>
                </a:solidFill>
                <a:latin typeface="Calibri"/>
              </a:rPr>
              <a:t>Automated, evidence-backed, multilingual verification delivered inside WhatsApp within minutes — combining a chatbot's reach with a fact-checker's discipline about sources.</a:t>
            </a:r>
          </a:p>
        </p:txBody>
      </p:sp>
      <p:sp>
        <p:nvSpPr>
          <p:cNvPr id="26" name="TextBox 25"/>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PROPOSED SOLUTION</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The proposal: forward a message, get a verdict</a:t>
            </a:r>
          </a:p>
        </p:txBody>
      </p:sp>
      <p:sp>
        <p:nvSpPr>
          <p:cNvPr id="5" name="TextBox 4"/>
          <p:cNvSpPr txBox="1"/>
          <p:nvPr/>
        </p:nvSpPr>
        <p:spPr>
          <a:xfrm>
            <a:off x="594360" y="1591056"/>
            <a:ext cx="10728655" cy="420624"/>
          </a:xfrm>
          <a:prstGeom prst="rect">
            <a:avLst/>
          </a:prstGeom>
          <a:noFill/>
        </p:spPr>
        <p:txBody>
          <a:bodyPr wrap="square" anchor="t" lIns="0" rIns="0" tIns="0" bIns="0">
            <a:spAutoFit/>
          </a:bodyPr>
          <a:lstStyle/>
          <a:p>
            <a:pPr algn="l">
              <a:lnSpc>
                <a:spcPct val="122000"/>
              </a:lnSpc>
              <a:spcAft>
                <a:spcPts val="400"/>
              </a:spcAft>
            </a:pPr>
            <a:r>
              <a:rPr sz="1250" b="0" i="0">
                <a:solidFill>
                  <a:srgbClr val="5A6484"/>
                </a:solidFill>
                <a:latin typeface="Calibri"/>
              </a:rPr>
              <a:t>No app to install, no account to create, no new habit to learn. The user already knows how to forward.</a:t>
            </a:r>
          </a:p>
        </p:txBody>
      </p:sp>
      <p:sp>
        <p:nvSpPr>
          <p:cNvPr id="6" name="Chevron 5"/>
          <p:cNvSpPr/>
          <p:nvPr/>
        </p:nvSpPr>
        <p:spPr>
          <a:xfrm>
            <a:off x="594360" y="2167128"/>
            <a:ext cx="2127443" cy="1051560"/>
          </a:xfrm>
          <a:prstGeom prst="chevron">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tIns="0" bIns="0"/>
          <a:lstStyle/>
          <a:p>
            <a:pPr algn="ctr">
              <a:lnSpc>
                <a:spcPct val="112000"/>
              </a:lnSpc>
            </a:pPr>
            <a:r>
              <a:rPr sz="1150" b="1">
                <a:solidFill>
                  <a:srgbClr val="FFFFFF"/>
                </a:solidFill>
                <a:latin typeface="Calibri"/>
              </a:rPr>
              <a:t>User forwards
to WhatsApp</a:t>
            </a:r>
          </a:p>
        </p:txBody>
      </p:sp>
      <p:sp>
        <p:nvSpPr>
          <p:cNvPr id="7" name="Chevron 6"/>
          <p:cNvSpPr/>
          <p:nvPr/>
        </p:nvSpPr>
        <p:spPr>
          <a:xfrm>
            <a:off x="2813243" y="2167128"/>
            <a:ext cx="2127443" cy="1051560"/>
          </a:xfrm>
          <a:prstGeom prst="chevron">
            <a:avLst/>
          </a:prstGeom>
          <a:solidFill>
            <a:srgbClr val="1E2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tIns="0" bIns="0"/>
          <a:lstStyle/>
          <a:p>
            <a:pPr algn="ctr">
              <a:lnSpc>
                <a:spcPct val="112000"/>
              </a:lnSpc>
            </a:pPr>
            <a:r>
              <a:rPr sz="1150" b="1">
                <a:solidFill>
                  <a:srgbClr val="FFFFFF"/>
                </a:solidFill>
                <a:latin typeface="Calibri"/>
              </a:rPr>
              <a:t>Extract the
claim</a:t>
            </a:r>
          </a:p>
        </p:txBody>
      </p:sp>
      <p:sp>
        <p:nvSpPr>
          <p:cNvPr id="8" name="Chevron 7"/>
          <p:cNvSpPr/>
          <p:nvPr/>
        </p:nvSpPr>
        <p:spPr>
          <a:xfrm>
            <a:off x="5032126" y="2167128"/>
            <a:ext cx="2127443" cy="1051560"/>
          </a:xfrm>
          <a:prstGeom prst="chevron">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tIns="0" bIns="0"/>
          <a:lstStyle/>
          <a:p>
            <a:pPr algn="ctr">
              <a:lnSpc>
                <a:spcPct val="112000"/>
              </a:lnSpc>
            </a:pPr>
            <a:r>
              <a:rPr sz="1150" b="1">
                <a:solidFill>
                  <a:srgbClr val="FFFFFF"/>
                </a:solidFill>
                <a:latin typeface="Calibri"/>
              </a:rPr>
              <a:t>Retrieve real
evidence</a:t>
            </a:r>
          </a:p>
        </p:txBody>
      </p:sp>
      <p:sp>
        <p:nvSpPr>
          <p:cNvPr id="9" name="Chevron 8"/>
          <p:cNvSpPr/>
          <p:nvPr/>
        </p:nvSpPr>
        <p:spPr>
          <a:xfrm>
            <a:off x="7251009" y="2167128"/>
            <a:ext cx="2127443" cy="1051560"/>
          </a:xfrm>
          <a:prstGeom prst="chevron">
            <a:avLst/>
          </a:prstGeom>
          <a:solidFill>
            <a:srgbClr val="1E2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tIns="0" bIns="0"/>
          <a:lstStyle/>
          <a:p>
            <a:pPr algn="ctr">
              <a:lnSpc>
                <a:spcPct val="112000"/>
              </a:lnSpc>
            </a:pPr>
            <a:r>
              <a:rPr sz="1150" b="1">
                <a:solidFill>
                  <a:srgbClr val="FFFFFF"/>
                </a:solidFill>
                <a:latin typeface="Calibri"/>
              </a:rPr>
              <a:t>Classify with
a guardrail</a:t>
            </a:r>
          </a:p>
        </p:txBody>
      </p:sp>
      <p:sp>
        <p:nvSpPr>
          <p:cNvPr id="10" name="Chevron 9"/>
          <p:cNvSpPr/>
          <p:nvPr/>
        </p:nvSpPr>
        <p:spPr>
          <a:xfrm>
            <a:off x="9469892" y="2167128"/>
            <a:ext cx="2127443" cy="1051560"/>
          </a:xfrm>
          <a:prstGeom prst="chevron">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54864" tIns="0" bIns="0"/>
          <a:lstStyle/>
          <a:p>
            <a:pPr algn="ctr">
              <a:lnSpc>
                <a:spcPct val="112000"/>
              </a:lnSpc>
            </a:pPr>
            <a:r>
              <a:rPr sz="1150" b="1">
                <a:solidFill>
                  <a:srgbClr val="FFFFFF"/>
                </a:solidFill>
                <a:latin typeface="Calibri"/>
              </a:rPr>
              <a:t>Reply in the
user's language</a:t>
            </a:r>
          </a:p>
        </p:txBody>
      </p:sp>
      <p:sp>
        <p:nvSpPr>
          <p:cNvPr id="11" name="Rounded Rectangle 10"/>
          <p:cNvSpPr/>
          <p:nvPr/>
        </p:nvSpPr>
        <p:spPr>
          <a:xfrm>
            <a:off x="594360" y="3758183"/>
            <a:ext cx="2572435" cy="171780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13816" y="3995927"/>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T</a:t>
            </a:r>
          </a:p>
        </p:txBody>
      </p:sp>
      <p:sp>
        <p:nvSpPr>
          <p:cNvPr id="13" name="TextBox 12"/>
          <p:cNvSpPr txBox="1"/>
          <p:nvPr/>
        </p:nvSpPr>
        <p:spPr>
          <a:xfrm>
            <a:off x="813816" y="4507991"/>
            <a:ext cx="2133523"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Text &amp; links</a:t>
            </a:r>
          </a:p>
        </p:txBody>
      </p:sp>
      <p:sp>
        <p:nvSpPr>
          <p:cNvPr id="14" name="TextBox 13"/>
          <p:cNvSpPr txBox="1"/>
          <p:nvPr/>
        </p:nvSpPr>
        <p:spPr>
          <a:xfrm>
            <a:off x="813816" y="4762753"/>
            <a:ext cx="2133523" cy="585216"/>
          </a:xfrm>
          <a:prstGeom prst="rect">
            <a:avLst/>
          </a:prstGeom>
          <a:noFill/>
        </p:spPr>
        <p:txBody>
          <a:bodyPr wrap="square" anchor="t" lIns="0" rIns="0" tIns="0" bIns="0">
            <a:spAutoFit/>
          </a:bodyPr>
          <a:lstStyle/>
          <a:p>
            <a:pPr algn="l">
              <a:lnSpc>
                <a:spcPct val="120000"/>
              </a:lnSpc>
              <a:spcAft>
                <a:spcPts val="400"/>
              </a:spcAft>
            </a:pPr>
            <a:r>
              <a:rPr sz="1000" b="0" i="0">
                <a:solidFill>
                  <a:srgbClr val="5A6484"/>
                </a:solidFill>
                <a:latin typeface="Calibri"/>
              </a:rPr>
              <a:t>Claim extracted directly; URLs additionally screened for phishing and domain credibility.</a:t>
            </a:r>
          </a:p>
        </p:txBody>
      </p:sp>
      <p:sp>
        <p:nvSpPr>
          <p:cNvPr id="15" name="Rounded Rectangle 14"/>
          <p:cNvSpPr/>
          <p:nvPr/>
        </p:nvSpPr>
        <p:spPr>
          <a:xfrm>
            <a:off x="3404539" y="3758183"/>
            <a:ext cx="2572435" cy="171780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3623995" y="3995927"/>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I</a:t>
            </a:r>
          </a:p>
        </p:txBody>
      </p:sp>
      <p:sp>
        <p:nvSpPr>
          <p:cNvPr id="17" name="TextBox 16"/>
          <p:cNvSpPr txBox="1"/>
          <p:nvPr/>
        </p:nvSpPr>
        <p:spPr>
          <a:xfrm>
            <a:off x="3623995" y="4507991"/>
            <a:ext cx="2133523"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Images</a:t>
            </a:r>
          </a:p>
        </p:txBody>
      </p:sp>
      <p:sp>
        <p:nvSpPr>
          <p:cNvPr id="18" name="TextBox 17"/>
          <p:cNvSpPr txBox="1"/>
          <p:nvPr/>
        </p:nvSpPr>
        <p:spPr>
          <a:xfrm>
            <a:off x="3623995" y="4762753"/>
            <a:ext cx="2133523" cy="585216"/>
          </a:xfrm>
          <a:prstGeom prst="rect">
            <a:avLst/>
          </a:prstGeom>
          <a:noFill/>
        </p:spPr>
        <p:txBody>
          <a:bodyPr wrap="square" anchor="t" lIns="0" rIns="0" tIns="0" bIns="0">
            <a:spAutoFit/>
          </a:bodyPr>
          <a:lstStyle/>
          <a:p>
            <a:pPr algn="l">
              <a:lnSpc>
                <a:spcPct val="120000"/>
              </a:lnSpc>
              <a:spcAft>
                <a:spcPts val="400"/>
              </a:spcAft>
            </a:pPr>
            <a:r>
              <a:rPr sz="1000" b="0" i="0">
                <a:solidFill>
                  <a:srgbClr val="5A6484"/>
                </a:solidFill>
                <a:latin typeface="Calibri"/>
              </a:rPr>
              <a:t>Text read out of screenshots and photos, then treated as a normal text claim.</a:t>
            </a:r>
          </a:p>
        </p:txBody>
      </p:sp>
      <p:sp>
        <p:nvSpPr>
          <p:cNvPr id="19" name="Rounded Rectangle 18"/>
          <p:cNvSpPr/>
          <p:nvPr/>
        </p:nvSpPr>
        <p:spPr>
          <a:xfrm>
            <a:off x="6214719" y="3758183"/>
            <a:ext cx="2572435" cy="171780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434175" y="3995927"/>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A</a:t>
            </a:r>
          </a:p>
        </p:txBody>
      </p:sp>
      <p:sp>
        <p:nvSpPr>
          <p:cNvPr id="21" name="TextBox 20"/>
          <p:cNvSpPr txBox="1"/>
          <p:nvPr/>
        </p:nvSpPr>
        <p:spPr>
          <a:xfrm>
            <a:off x="6434175" y="4507991"/>
            <a:ext cx="2133523"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Audio</a:t>
            </a:r>
          </a:p>
        </p:txBody>
      </p:sp>
      <p:sp>
        <p:nvSpPr>
          <p:cNvPr id="22" name="TextBox 21"/>
          <p:cNvSpPr txBox="1"/>
          <p:nvPr/>
        </p:nvSpPr>
        <p:spPr>
          <a:xfrm>
            <a:off x="6434175" y="4762753"/>
            <a:ext cx="2133523" cy="585216"/>
          </a:xfrm>
          <a:prstGeom prst="rect">
            <a:avLst/>
          </a:prstGeom>
          <a:noFill/>
        </p:spPr>
        <p:txBody>
          <a:bodyPr wrap="square" anchor="t" lIns="0" rIns="0" tIns="0" bIns="0">
            <a:spAutoFit/>
          </a:bodyPr>
          <a:lstStyle/>
          <a:p>
            <a:pPr algn="l">
              <a:lnSpc>
                <a:spcPct val="120000"/>
              </a:lnSpc>
              <a:spcAft>
                <a:spcPts val="400"/>
              </a:spcAft>
            </a:pPr>
            <a:r>
              <a:rPr sz="1000" b="0" i="0">
                <a:solidFill>
                  <a:srgbClr val="5A6484"/>
                </a:solidFill>
                <a:latin typeface="Calibri"/>
              </a:rPr>
              <a:t>Voice notes transcribed in the speaker's language before extraction.</a:t>
            </a:r>
          </a:p>
        </p:txBody>
      </p:sp>
      <p:sp>
        <p:nvSpPr>
          <p:cNvPr id="23" name="Rounded Rectangle 22"/>
          <p:cNvSpPr/>
          <p:nvPr/>
        </p:nvSpPr>
        <p:spPr>
          <a:xfrm>
            <a:off x="9024899" y="3758183"/>
            <a:ext cx="2572435" cy="1717802"/>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244355" y="3995927"/>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V</a:t>
            </a:r>
          </a:p>
        </p:txBody>
      </p:sp>
      <p:sp>
        <p:nvSpPr>
          <p:cNvPr id="25" name="TextBox 24"/>
          <p:cNvSpPr txBox="1"/>
          <p:nvPr/>
        </p:nvSpPr>
        <p:spPr>
          <a:xfrm>
            <a:off x="9244355" y="4507991"/>
            <a:ext cx="2133523"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Video</a:t>
            </a:r>
          </a:p>
        </p:txBody>
      </p:sp>
      <p:sp>
        <p:nvSpPr>
          <p:cNvPr id="26" name="TextBox 25"/>
          <p:cNvSpPr txBox="1"/>
          <p:nvPr/>
        </p:nvSpPr>
        <p:spPr>
          <a:xfrm>
            <a:off x="9244355" y="4762753"/>
            <a:ext cx="2133523" cy="585216"/>
          </a:xfrm>
          <a:prstGeom prst="rect">
            <a:avLst/>
          </a:prstGeom>
          <a:noFill/>
        </p:spPr>
        <p:txBody>
          <a:bodyPr wrap="square" anchor="t" lIns="0" rIns="0" tIns="0" bIns="0">
            <a:spAutoFit/>
          </a:bodyPr>
          <a:lstStyle/>
          <a:p>
            <a:pPr algn="l">
              <a:lnSpc>
                <a:spcPct val="120000"/>
              </a:lnSpc>
              <a:spcAft>
                <a:spcPts val="400"/>
              </a:spcAft>
            </a:pPr>
            <a:r>
              <a:rPr sz="1000" b="0" i="0">
                <a:solidFill>
                  <a:srgbClr val="5A6484"/>
                </a:solidFill>
                <a:latin typeface="Calibri"/>
              </a:rPr>
              <a:t>Frames sampled and read; audio track transcribed separately.</a:t>
            </a:r>
          </a:p>
        </p:txBody>
      </p:sp>
      <p:sp>
        <p:nvSpPr>
          <p:cNvPr id="27" name="TextBox 26"/>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SCOPE</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Objectives for this project</a:t>
            </a:r>
          </a:p>
        </p:txBody>
      </p:sp>
      <p:sp>
        <p:nvSpPr>
          <p:cNvPr id="5" name="Oval 4"/>
          <p:cNvSpPr/>
          <p:nvPr/>
        </p:nvSpPr>
        <p:spPr>
          <a:xfrm>
            <a:off x="594360" y="1700784"/>
            <a:ext cx="402336" cy="402336"/>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1</a:t>
            </a:r>
          </a:p>
        </p:txBody>
      </p:sp>
      <p:sp>
        <p:nvSpPr>
          <p:cNvPr id="6" name="TextBox 5"/>
          <p:cNvSpPr txBox="1"/>
          <p:nvPr/>
        </p:nvSpPr>
        <p:spPr>
          <a:xfrm>
            <a:off x="1161288" y="1664208"/>
            <a:ext cx="10344607" cy="274320"/>
          </a:xfrm>
          <a:prstGeom prst="rect">
            <a:avLst/>
          </a:prstGeom>
          <a:noFill/>
        </p:spPr>
        <p:txBody>
          <a:bodyPr wrap="square" anchor="t" lIns="0" rIns="0" tIns="0" bIns="0">
            <a:spAutoFit/>
          </a:bodyPr>
          <a:lstStyle/>
          <a:p>
            <a:pPr algn="l">
              <a:lnSpc>
                <a:spcPct val="118000"/>
              </a:lnSpc>
              <a:spcAft>
                <a:spcPts val="400"/>
              </a:spcAft>
            </a:pPr>
            <a:r>
              <a:rPr sz="1250" b="1" i="0">
                <a:solidFill>
                  <a:srgbClr val="0F1631"/>
                </a:solidFill>
                <a:latin typeface="Cambria"/>
              </a:rPr>
              <a:t>Accept all four input types over WhatsApp</a:t>
            </a:r>
          </a:p>
        </p:txBody>
      </p:sp>
      <p:sp>
        <p:nvSpPr>
          <p:cNvPr id="7" name="TextBox 6"/>
          <p:cNvSpPr txBox="1"/>
          <p:nvPr/>
        </p:nvSpPr>
        <p:spPr>
          <a:xfrm>
            <a:off x="1161288" y="1947672"/>
            <a:ext cx="10344607" cy="276225"/>
          </a:xfrm>
          <a:prstGeom prst="rect">
            <a:avLst/>
          </a:prstGeom>
          <a:noFill/>
        </p:spPr>
        <p:txBody>
          <a:bodyPr wrap="square" anchor="t" lIns="0" rIns="0" tIns="0" bIns="0">
            <a:spAutoFit/>
          </a:bodyPr>
          <a:lstStyle/>
          <a:p>
            <a:pPr algn="l">
              <a:lnSpc>
                <a:spcPct val="118000"/>
              </a:lnSpc>
              <a:spcAft>
                <a:spcPts val="400"/>
              </a:spcAft>
            </a:pPr>
            <a:r>
              <a:rPr sz="1050" b="0" i="0">
                <a:solidFill>
                  <a:srgbClr val="5A6484"/>
                </a:solidFill>
                <a:latin typeface="Calibri"/>
              </a:rPr>
              <a:t>Text, URL, image and audio, each with a real extraction path — not a single-modality demo.</a:t>
            </a:r>
          </a:p>
        </p:txBody>
      </p:sp>
      <p:sp>
        <p:nvSpPr>
          <p:cNvPr id="8" name="Oval 7"/>
          <p:cNvSpPr/>
          <p:nvPr/>
        </p:nvSpPr>
        <p:spPr>
          <a:xfrm>
            <a:off x="594360" y="2425065"/>
            <a:ext cx="402336" cy="402336"/>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2</a:t>
            </a:r>
          </a:p>
        </p:txBody>
      </p:sp>
      <p:sp>
        <p:nvSpPr>
          <p:cNvPr id="9" name="TextBox 8"/>
          <p:cNvSpPr txBox="1"/>
          <p:nvPr/>
        </p:nvSpPr>
        <p:spPr>
          <a:xfrm>
            <a:off x="1161288" y="2388489"/>
            <a:ext cx="10344607" cy="274320"/>
          </a:xfrm>
          <a:prstGeom prst="rect">
            <a:avLst/>
          </a:prstGeom>
          <a:noFill/>
        </p:spPr>
        <p:txBody>
          <a:bodyPr wrap="square" anchor="t" lIns="0" rIns="0" tIns="0" bIns="0">
            <a:spAutoFit/>
          </a:bodyPr>
          <a:lstStyle/>
          <a:p>
            <a:pPr algn="l">
              <a:lnSpc>
                <a:spcPct val="118000"/>
              </a:lnSpc>
              <a:spcAft>
                <a:spcPts val="400"/>
              </a:spcAft>
            </a:pPr>
            <a:r>
              <a:rPr sz="1250" b="1" i="0">
                <a:solidFill>
                  <a:srgbClr val="0F1631"/>
                </a:solidFill>
                <a:latin typeface="Cambria"/>
              </a:rPr>
              <a:t>Ground every verdict in retrievable evidence</a:t>
            </a:r>
          </a:p>
        </p:txBody>
      </p:sp>
      <p:sp>
        <p:nvSpPr>
          <p:cNvPr id="10" name="TextBox 9"/>
          <p:cNvSpPr txBox="1"/>
          <p:nvPr/>
        </p:nvSpPr>
        <p:spPr>
          <a:xfrm>
            <a:off x="1161288" y="2671953"/>
            <a:ext cx="10344607" cy="276225"/>
          </a:xfrm>
          <a:prstGeom prst="rect">
            <a:avLst/>
          </a:prstGeom>
          <a:noFill/>
        </p:spPr>
        <p:txBody>
          <a:bodyPr wrap="square" anchor="t" lIns="0" rIns="0" tIns="0" bIns="0">
            <a:spAutoFit/>
          </a:bodyPr>
          <a:lstStyle/>
          <a:p>
            <a:pPr algn="l">
              <a:lnSpc>
                <a:spcPct val="118000"/>
              </a:lnSpc>
              <a:spcAft>
                <a:spcPts val="400"/>
              </a:spcAft>
            </a:pPr>
            <a:r>
              <a:rPr sz="1050" b="0" i="0">
                <a:solidFill>
                  <a:srgbClr val="5A6484"/>
                </a:solidFill>
                <a:latin typeface="Calibri"/>
              </a:rPr>
              <a:t>The system must cite sources it actually fetched. An unsourced verdict is treated as a defect.</a:t>
            </a:r>
          </a:p>
        </p:txBody>
      </p:sp>
      <p:sp>
        <p:nvSpPr>
          <p:cNvPr id="11" name="Oval 10"/>
          <p:cNvSpPr/>
          <p:nvPr/>
        </p:nvSpPr>
        <p:spPr>
          <a:xfrm>
            <a:off x="594360" y="3149346"/>
            <a:ext cx="402336" cy="402336"/>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3</a:t>
            </a:r>
          </a:p>
        </p:txBody>
      </p:sp>
      <p:sp>
        <p:nvSpPr>
          <p:cNvPr id="12" name="TextBox 11"/>
          <p:cNvSpPr txBox="1"/>
          <p:nvPr/>
        </p:nvSpPr>
        <p:spPr>
          <a:xfrm>
            <a:off x="1161288" y="3112770"/>
            <a:ext cx="10344607" cy="274320"/>
          </a:xfrm>
          <a:prstGeom prst="rect">
            <a:avLst/>
          </a:prstGeom>
          <a:noFill/>
        </p:spPr>
        <p:txBody>
          <a:bodyPr wrap="square" anchor="t" lIns="0" rIns="0" tIns="0" bIns="0">
            <a:spAutoFit/>
          </a:bodyPr>
          <a:lstStyle/>
          <a:p>
            <a:pPr algn="l">
              <a:lnSpc>
                <a:spcPct val="118000"/>
              </a:lnSpc>
              <a:spcAft>
                <a:spcPts val="400"/>
              </a:spcAft>
            </a:pPr>
            <a:r>
              <a:rPr sz="1250" b="1" i="0">
                <a:solidFill>
                  <a:srgbClr val="0F1631"/>
                </a:solidFill>
                <a:latin typeface="Cambria"/>
              </a:rPr>
              <a:t>Never fabricate certainty</a:t>
            </a:r>
          </a:p>
        </p:txBody>
      </p:sp>
      <p:sp>
        <p:nvSpPr>
          <p:cNvPr id="13" name="TextBox 12"/>
          <p:cNvSpPr txBox="1"/>
          <p:nvPr/>
        </p:nvSpPr>
        <p:spPr>
          <a:xfrm>
            <a:off x="1161288" y="3396234"/>
            <a:ext cx="10344607" cy="276225"/>
          </a:xfrm>
          <a:prstGeom prst="rect">
            <a:avLst/>
          </a:prstGeom>
          <a:noFill/>
        </p:spPr>
        <p:txBody>
          <a:bodyPr wrap="square" anchor="t" lIns="0" rIns="0" tIns="0" bIns="0">
            <a:spAutoFit/>
          </a:bodyPr>
          <a:lstStyle/>
          <a:p>
            <a:pPr algn="l">
              <a:lnSpc>
                <a:spcPct val="118000"/>
              </a:lnSpc>
              <a:spcAft>
                <a:spcPts val="400"/>
              </a:spcAft>
            </a:pPr>
            <a:r>
              <a:rPr sz="1050" b="0" i="0">
                <a:solidFill>
                  <a:srgbClr val="5A6484"/>
                </a:solidFill>
                <a:latin typeface="Calibri"/>
              </a:rPr>
              <a:t>Where evidence is thin, the system must say so explicitly instead of guessing a verdict.</a:t>
            </a:r>
          </a:p>
        </p:txBody>
      </p:sp>
      <p:sp>
        <p:nvSpPr>
          <p:cNvPr id="14" name="Oval 13"/>
          <p:cNvSpPr/>
          <p:nvPr/>
        </p:nvSpPr>
        <p:spPr>
          <a:xfrm>
            <a:off x="594360" y="3873627"/>
            <a:ext cx="402336" cy="402336"/>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4</a:t>
            </a:r>
          </a:p>
        </p:txBody>
      </p:sp>
      <p:sp>
        <p:nvSpPr>
          <p:cNvPr id="15" name="TextBox 14"/>
          <p:cNvSpPr txBox="1"/>
          <p:nvPr/>
        </p:nvSpPr>
        <p:spPr>
          <a:xfrm>
            <a:off x="1161288" y="3837051"/>
            <a:ext cx="10344607" cy="274320"/>
          </a:xfrm>
          <a:prstGeom prst="rect">
            <a:avLst/>
          </a:prstGeom>
          <a:noFill/>
        </p:spPr>
        <p:txBody>
          <a:bodyPr wrap="square" anchor="t" lIns="0" rIns="0" tIns="0" bIns="0">
            <a:spAutoFit/>
          </a:bodyPr>
          <a:lstStyle/>
          <a:p>
            <a:pPr algn="l">
              <a:lnSpc>
                <a:spcPct val="118000"/>
              </a:lnSpc>
              <a:spcAft>
                <a:spcPts val="400"/>
              </a:spcAft>
            </a:pPr>
            <a:r>
              <a:rPr sz="1250" b="1" i="0">
                <a:solidFill>
                  <a:srgbClr val="0F1631"/>
                </a:solidFill>
                <a:latin typeface="Cambria"/>
              </a:rPr>
              <a:t>Respond in the user's own language</a:t>
            </a:r>
          </a:p>
        </p:txBody>
      </p:sp>
      <p:sp>
        <p:nvSpPr>
          <p:cNvPr id="16" name="TextBox 15"/>
          <p:cNvSpPr txBox="1"/>
          <p:nvPr/>
        </p:nvSpPr>
        <p:spPr>
          <a:xfrm>
            <a:off x="1161288" y="4120514"/>
            <a:ext cx="10344607" cy="276225"/>
          </a:xfrm>
          <a:prstGeom prst="rect">
            <a:avLst/>
          </a:prstGeom>
          <a:noFill/>
        </p:spPr>
        <p:txBody>
          <a:bodyPr wrap="square" anchor="t" lIns="0" rIns="0" tIns="0" bIns="0">
            <a:spAutoFit/>
          </a:bodyPr>
          <a:lstStyle/>
          <a:p>
            <a:pPr algn="l">
              <a:lnSpc>
                <a:spcPct val="118000"/>
              </a:lnSpc>
              <a:spcAft>
                <a:spcPts val="400"/>
              </a:spcAft>
            </a:pPr>
            <a:r>
              <a:rPr sz="1050" b="0" i="0">
                <a:solidFill>
                  <a:srgbClr val="5A6484"/>
                </a:solidFill>
                <a:latin typeface="Calibri"/>
              </a:rPr>
              <a:t>Malayalam, Tamil, Hindi and English — including the reply text, not just the analysis.</a:t>
            </a:r>
          </a:p>
        </p:txBody>
      </p:sp>
      <p:sp>
        <p:nvSpPr>
          <p:cNvPr id="17" name="Oval 16"/>
          <p:cNvSpPr/>
          <p:nvPr/>
        </p:nvSpPr>
        <p:spPr>
          <a:xfrm>
            <a:off x="594360" y="4597908"/>
            <a:ext cx="402336" cy="402336"/>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5</a:t>
            </a:r>
          </a:p>
        </p:txBody>
      </p:sp>
      <p:sp>
        <p:nvSpPr>
          <p:cNvPr id="18" name="TextBox 17"/>
          <p:cNvSpPr txBox="1"/>
          <p:nvPr/>
        </p:nvSpPr>
        <p:spPr>
          <a:xfrm>
            <a:off x="1161288" y="4561332"/>
            <a:ext cx="10344607" cy="274320"/>
          </a:xfrm>
          <a:prstGeom prst="rect">
            <a:avLst/>
          </a:prstGeom>
          <a:noFill/>
        </p:spPr>
        <p:txBody>
          <a:bodyPr wrap="square" anchor="t" lIns="0" rIns="0" tIns="0" bIns="0">
            <a:spAutoFit/>
          </a:bodyPr>
          <a:lstStyle/>
          <a:p>
            <a:pPr algn="l">
              <a:lnSpc>
                <a:spcPct val="118000"/>
              </a:lnSpc>
              <a:spcAft>
                <a:spcPts val="400"/>
              </a:spcAft>
            </a:pPr>
            <a:r>
              <a:rPr sz="1250" b="1" i="0">
                <a:solidFill>
                  <a:srgbClr val="0F1631"/>
                </a:solidFill>
                <a:latin typeface="Cambria"/>
              </a:rPr>
              <a:t>Treat privacy as an architectural constraint</a:t>
            </a:r>
          </a:p>
        </p:txBody>
      </p:sp>
      <p:sp>
        <p:nvSpPr>
          <p:cNvPr id="19" name="TextBox 18"/>
          <p:cNvSpPr txBox="1"/>
          <p:nvPr/>
        </p:nvSpPr>
        <p:spPr>
          <a:xfrm>
            <a:off x="1161288" y="4844796"/>
            <a:ext cx="10344607" cy="276225"/>
          </a:xfrm>
          <a:prstGeom prst="rect">
            <a:avLst/>
          </a:prstGeom>
          <a:noFill/>
        </p:spPr>
        <p:txBody>
          <a:bodyPr wrap="square" anchor="t" lIns="0" rIns="0" tIns="0" bIns="0">
            <a:spAutoFit/>
          </a:bodyPr>
          <a:lstStyle/>
          <a:p>
            <a:pPr algn="l">
              <a:lnSpc>
                <a:spcPct val="118000"/>
              </a:lnSpc>
              <a:spcAft>
                <a:spcPts val="400"/>
              </a:spcAft>
            </a:pPr>
            <a:r>
              <a:rPr sz="1050" b="0" i="0">
                <a:solidFill>
                  <a:srgbClr val="5A6484"/>
                </a:solidFill>
                <a:latin typeface="Calibri"/>
              </a:rPr>
              <a:t>Minimal retention, encrypted identifiers, and a user-controlled privacy mode from day one.</a:t>
            </a:r>
          </a:p>
        </p:txBody>
      </p:sp>
      <p:sp>
        <p:nvSpPr>
          <p:cNvPr id="20" name="TextBox 19"/>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WHAT WE ARE AND ARE NOT BUILDING</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Deliberate scope boundaries</a:t>
            </a:r>
          </a:p>
        </p:txBody>
      </p:sp>
      <p:sp>
        <p:nvSpPr>
          <p:cNvPr id="5" name="Rounded Rectangle 4"/>
          <p:cNvSpPr/>
          <p:nvPr/>
        </p:nvSpPr>
        <p:spPr>
          <a:xfrm>
            <a:off x="594360" y="1664208"/>
            <a:ext cx="5364327" cy="2800350"/>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883664"/>
            <a:ext cx="4815687" cy="365760"/>
          </a:xfrm>
          <a:prstGeom prst="rect">
            <a:avLst/>
          </a:prstGeom>
          <a:noFill/>
        </p:spPr>
        <p:txBody>
          <a:bodyPr wrap="square" anchor="t" lIns="0" rIns="0" tIns="0" bIns="0">
            <a:spAutoFit/>
          </a:bodyPr>
          <a:lstStyle/>
          <a:p>
            <a:pPr algn="l">
              <a:lnSpc>
                <a:spcPct val="118000"/>
              </a:lnSpc>
              <a:spcAft>
                <a:spcPts val="400"/>
              </a:spcAft>
            </a:pPr>
            <a:r>
              <a:rPr sz="1500" b="1" i="0">
                <a:solidFill>
                  <a:srgbClr val="0F1631"/>
                </a:solidFill>
                <a:latin typeface="Cambria"/>
              </a:rPr>
              <a:t>In scope</a:t>
            </a:r>
          </a:p>
        </p:txBody>
      </p:sp>
      <p:sp>
        <p:nvSpPr>
          <p:cNvPr id="7" name="TextBox 6"/>
          <p:cNvSpPr txBox="1"/>
          <p:nvPr/>
        </p:nvSpPr>
        <p:spPr>
          <a:xfrm>
            <a:off x="868680" y="2359152"/>
            <a:ext cx="4815687" cy="1940814"/>
          </a:xfrm>
          <a:prstGeom prst="rect">
            <a:avLst/>
          </a:prstGeom>
          <a:noFill/>
        </p:spPr>
        <p:txBody>
          <a:bodyPr wrap="square" anchor="t" lIns="0" rIns="0" tIns="0" bIns="0">
            <a:spAutoFit/>
          </a:bodyPr>
          <a:lstStyle/>
          <a:p>
            <a:pPr algn="l">
              <a:lnSpc>
                <a:spcPct val="118000"/>
              </a:lnSpc>
              <a:spcAft>
                <a:spcPts val="700"/>
              </a:spcAft>
            </a:pPr>
            <a:r>
              <a:rPr sz="1100" b="0" i="0">
                <a:solidFill>
                  <a:srgbClr val="5A6484"/>
                </a:solidFill>
                <a:latin typeface="Calibri"/>
              </a:rPr>
              <a:t>•  WhatsApp as the only user interface</a:t>
            </a:r>
          </a:p>
          <a:p>
            <a:pPr algn="l">
              <a:lnSpc>
                <a:spcPct val="118000"/>
              </a:lnSpc>
              <a:spcAft>
                <a:spcPts val="700"/>
              </a:spcAft>
            </a:pPr>
            <a:r>
              <a:rPr sz="1100" b="0" i="0">
                <a:solidFill>
                  <a:srgbClr val="5A6484"/>
                </a:solidFill>
                <a:latin typeface="Calibri"/>
              </a:rPr>
              <a:t>•  Four languages, end to end</a:t>
            </a:r>
          </a:p>
          <a:p>
            <a:pPr algn="l">
              <a:lnSpc>
                <a:spcPct val="118000"/>
              </a:lnSpc>
              <a:spcAft>
                <a:spcPts val="700"/>
              </a:spcAft>
            </a:pPr>
            <a:r>
              <a:rPr sz="1100" b="0" i="0">
                <a:solidFill>
                  <a:srgbClr val="5A6484"/>
                </a:solidFill>
                <a:latin typeface="Calibri"/>
              </a:rPr>
              <a:t>•  Text, URL, image and audio input</a:t>
            </a:r>
          </a:p>
          <a:p>
            <a:pPr algn="l">
              <a:lnSpc>
                <a:spcPct val="118000"/>
              </a:lnSpc>
              <a:spcAft>
                <a:spcPts val="700"/>
              </a:spcAft>
            </a:pPr>
            <a:r>
              <a:rPr sz="1100" b="0" i="0">
                <a:solidFill>
                  <a:srgbClr val="5A6484"/>
                </a:solidFill>
                <a:latin typeface="Calibri"/>
              </a:rPr>
              <a:t>•  Evidence retrieval and source credibility scoring</a:t>
            </a:r>
          </a:p>
          <a:p>
            <a:pPr algn="l">
              <a:lnSpc>
                <a:spcPct val="118000"/>
              </a:lnSpc>
              <a:spcAft>
                <a:spcPts val="700"/>
              </a:spcAft>
            </a:pPr>
            <a:r>
              <a:rPr sz="1100" b="0" i="0">
                <a:solidFill>
                  <a:srgbClr val="5A6484"/>
                </a:solidFill>
                <a:latin typeface="Calibri"/>
              </a:rPr>
              <a:t>•  A user-facing dashboard for history and reports</a:t>
            </a:r>
          </a:p>
          <a:p>
            <a:pPr algn="l">
              <a:lnSpc>
                <a:spcPct val="118000"/>
              </a:lnSpc>
              <a:spcAft>
                <a:spcPts val="700"/>
              </a:spcAft>
            </a:pPr>
            <a:r>
              <a:rPr sz="1100" b="0" i="0">
                <a:solidFill>
                  <a:srgbClr val="5A6484"/>
                </a:solidFill>
                <a:latin typeface="Calibri"/>
              </a:rPr>
              <a:t>•  Appeals process for disputed verdicts</a:t>
            </a:r>
          </a:p>
          <a:p>
            <a:pPr algn="l">
              <a:lnSpc>
                <a:spcPct val="118000"/>
              </a:lnSpc>
              <a:spcAft>
                <a:spcPts val="700"/>
              </a:spcAft>
            </a:pPr>
            <a:r>
              <a:rPr sz="1100" b="0" i="0">
                <a:solidFill>
                  <a:srgbClr val="5A6484"/>
                </a:solidFill>
                <a:latin typeface="Calibri"/>
              </a:rPr>
              <a:t>•  Structured privacy and retention controls</a:t>
            </a:r>
          </a:p>
        </p:txBody>
      </p:sp>
      <p:sp>
        <p:nvSpPr>
          <p:cNvPr id="8" name="Rounded Rectangle 7"/>
          <p:cNvSpPr/>
          <p:nvPr/>
        </p:nvSpPr>
        <p:spPr>
          <a:xfrm>
            <a:off x="6233007" y="1664208"/>
            <a:ext cx="5364327" cy="2800350"/>
          </a:xfrm>
          <a:prstGeom prst="roundRect">
            <a:avLst>
              <a:gd name="adj" fmla="val 4500"/>
            </a:avLst>
          </a:prstGeom>
          <a:solidFill>
            <a:srgbClr val="FDF3E0"/>
          </a:solidFill>
          <a:ln w="12700">
            <a:solidFill>
              <a:srgbClr val="F0DD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07327" y="1883664"/>
            <a:ext cx="4815687" cy="365760"/>
          </a:xfrm>
          <a:prstGeom prst="rect">
            <a:avLst/>
          </a:prstGeom>
          <a:noFill/>
        </p:spPr>
        <p:txBody>
          <a:bodyPr wrap="square" anchor="t" lIns="0" rIns="0" tIns="0" bIns="0">
            <a:spAutoFit/>
          </a:bodyPr>
          <a:lstStyle/>
          <a:p>
            <a:pPr algn="l">
              <a:lnSpc>
                <a:spcPct val="118000"/>
              </a:lnSpc>
              <a:spcAft>
                <a:spcPts val="400"/>
              </a:spcAft>
            </a:pPr>
            <a:r>
              <a:rPr sz="1500" b="1" i="0">
                <a:solidFill>
                  <a:srgbClr val="0F1631"/>
                </a:solidFill>
                <a:latin typeface="Cambria"/>
              </a:rPr>
              <a:t>Explicitly out of scope</a:t>
            </a:r>
          </a:p>
        </p:txBody>
      </p:sp>
      <p:sp>
        <p:nvSpPr>
          <p:cNvPr id="10" name="TextBox 9"/>
          <p:cNvSpPr txBox="1"/>
          <p:nvPr/>
        </p:nvSpPr>
        <p:spPr>
          <a:xfrm>
            <a:off x="6507327" y="2359152"/>
            <a:ext cx="4815687" cy="1940814"/>
          </a:xfrm>
          <a:prstGeom prst="rect">
            <a:avLst/>
          </a:prstGeom>
          <a:noFill/>
        </p:spPr>
        <p:txBody>
          <a:bodyPr wrap="square" anchor="t" lIns="0" rIns="0" tIns="0" bIns="0">
            <a:spAutoFit/>
          </a:bodyPr>
          <a:lstStyle/>
          <a:p>
            <a:pPr algn="l">
              <a:lnSpc>
                <a:spcPct val="118000"/>
              </a:lnSpc>
              <a:spcAft>
                <a:spcPts val="700"/>
              </a:spcAft>
            </a:pPr>
            <a:r>
              <a:rPr sz="1100" b="0" i="0">
                <a:solidFill>
                  <a:srgbClr val="5A6484"/>
                </a:solidFill>
                <a:latin typeface="Calibri"/>
              </a:rPr>
              <a:t>•  A mobile app or public website front-end</a:t>
            </a:r>
          </a:p>
          <a:p>
            <a:pPr algn="l">
              <a:lnSpc>
                <a:spcPct val="118000"/>
              </a:lnSpc>
              <a:spcAft>
                <a:spcPts val="700"/>
              </a:spcAft>
            </a:pPr>
            <a:r>
              <a:rPr sz="1100" b="0" i="0">
                <a:solidFill>
                  <a:srgbClr val="5A6484"/>
                </a:solidFill>
                <a:latin typeface="Calibri"/>
              </a:rPr>
              <a:t>•  Proactive or scheduled messaging (WhatsApp template rules make this a separate project)</a:t>
            </a:r>
          </a:p>
          <a:p>
            <a:pPr algn="l">
              <a:lnSpc>
                <a:spcPct val="118000"/>
              </a:lnSpc>
              <a:spcAft>
                <a:spcPts val="700"/>
              </a:spcAft>
            </a:pPr>
            <a:r>
              <a:rPr sz="1100" b="0" i="0">
                <a:solidFill>
                  <a:srgbClr val="5A6484"/>
                </a:solidFill>
                <a:latin typeface="Calibri"/>
              </a:rPr>
              <a:t>•  Human fact-checker workflow tooling</a:t>
            </a:r>
          </a:p>
          <a:p>
            <a:pPr algn="l">
              <a:lnSpc>
                <a:spcPct val="118000"/>
              </a:lnSpc>
              <a:spcAft>
                <a:spcPts val="700"/>
              </a:spcAft>
            </a:pPr>
            <a:r>
              <a:rPr sz="1100" b="0" i="0">
                <a:solidFill>
                  <a:srgbClr val="5A6484"/>
                </a:solidFill>
                <a:latin typeface="Calibri"/>
              </a:rPr>
              <a:t>•  Real-time video stream analysis</a:t>
            </a:r>
          </a:p>
          <a:p>
            <a:pPr algn="l">
              <a:lnSpc>
                <a:spcPct val="118000"/>
              </a:lnSpc>
              <a:spcAft>
                <a:spcPts val="700"/>
              </a:spcAft>
            </a:pPr>
            <a:r>
              <a:rPr sz="1100" b="0" i="0">
                <a:solidFill>
                  <a:srgbClr val="5A6484"/>
                </a:solidFill>
                <a:latin typeface="Calibri"/>
              </a:rPr>
              <a:t>•  Claims requiring specialist domain expertise to adjudicate</a:t>
            </a:r>
          </a:p>
        </p:txBody>
      </p:sp>
      <p:sp>
        <p:nvSpPr>
          <p:cNvPr id="11" name="TextBox 10"/>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DESIGN PROPOSAL</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Five verdicts, not two</a:t>
            </a:r>
          </a:p>
        </p:txBody>
      </p:sp>
      <p:sp>
        <p:nvSpPr>
          <p:cNvPr id="5" name="TextBox 4"/>
          <p:cNvSpPr txBox="1"/>
          <p:nvPr/>
        </p:nvSpPr>
        <p:spPr>
          <a:xfrm>
            <a:off x="594360" y="1591056"/>
            <a:ext cx="10728655" cy="420624"/>
          </a:xfrm>
          <a:prstGeom prst="rect">
            <a:avLst/>
          </a:prstGeom>
          <a:noFill/>
        </p:spPr>
        <p:txBody>
          <a:bodyPr wrap="square" anchor="t" lIns="0" rIns="0" tIns="0" bIns="0">
            <a:spAutoFit/>
          </a:bodyPr>
          <a:lstStyle/>
          <a:p>
            <a:pPr algn="l">
              <a:lnSpc>
                <a:spcPct val="122000"/>
              </a:lnSpc>
              <a:spcAft>
                <a:spcPts val="400"/>
              </a:spcAft>
            </a:pPr>
            <a:r>
              <a:rPr sz="1250" b="0" i="0">
                <a:solidFill>
                  <a:srgbClr val="5A6484"/>
                </a:solidFill>
                <a:latin typeface="Calibri"/>
              </a:rPr>
              <a:t>The taxonomy is a design decision, not a label set. Two of these five exist purely to represent honest uncertainty.</a:t>
            </a:r>
          </a:p>
        </p:txBody>
      </p:sp>
      <p:sp>
        <p:nvSpPr>
          <p:cNvPr id="6" name="Rounded Rectangle 5"/>
          <p:cNvSpPr/>
          <p:nvPr/>
        </p:nvSpPr>
        <p:spPr>
          <a:xfrm>
            <a:off x="594360" y="2121408"/>
            <a:ext cx="2054291" cy="1600200"/>
          </a:xfrm>
          <a:prstGeom prst="roundRect">
            <a:avLst>
              <a:gd name="adj" fmla="val 4500"/>
            </a:avLst>
          </a:prstGeom>
          <a:solidFill>
            <a:srgbClr val="FFFFFF"/>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13816" y="2368296"/>
            <a:ext cx="164592" cy="164592"/>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304288"/>
            <a:ext cx="1359347" cy="431038"/>
          </a:xfrm>
          <a:prstGeom prst="rect">
            <a:avLst/>
          </a:prstGeom>
          <a:noFill/>
        </p:spPr>
        <p:txBody>
          <a:bodyPr wrap="square" anchor="t" lIns="0" rIns="0" tIns="0" bIns="0">
            <a:spAutoFit/>
          </a:bodyPr>
          <a:lstStyle/>
          <a:p>
            <a:pPr algn="l">
              <a:lnSpc>
                <a:spcPct val="110000"/>
              </a:lnSpc>
              <a:spcAft>
                <a:spcPts val="400"/>
              </a:spcAft>
            </a:pPr>
            <a:r>
              <a:rPr sz="1150" b="1" i="0">
                <a:solidFill>
                  <a:srgbClr val="2E7D5B"/>
                </a:solidFill>
                <a:latin typeface="Cambria"/>
              </a:rPr>
              <a:t>Verified</a:t>
            </a:r>
          </a:p>
        </p:txBody>
      </p:sp>
      <p:sp>
        <p:nvSpPr>
          <p:cNvPr id="9" name="TextBox 8"/>
          <p:cNvSpPr txBox="1"/>
          <p:nvPr/>
        </p:nvSpPr>
        <p:spPr>
          <a:xfrm>
            <a:off x="813816" y="2735326"/>
            <a:ext cx="1615379" cy="839977"/>
          </a:xfrm>
          <a:prstGeom prst="rect">
            <a:avLst/>
          </a:prstGeom>
          <a:noFill/>
        </p:spPr>
        <p:txBody>
          <a:bodyPr wrap="square" anchor="t" lIns="0" rIns="0" tIns="0" bIns="0">
            <a:spAutoFit/>
          </a:bodyPr>
          <a:lstStyle/>
          <a:p>
            <a:pPr algn="l">
              <a:lnSpc>
                <a:spcPct val="116000"/>
              </a:lnSpc>
              <a:spcAft>
                <a:spcPts val="400"/>
              </a:spcAft>
            </a:pPr>
            <a:r>
              <a:rPr sz="950" b="0" i="0">
                <a:solidFill>
                  <a:srgbClr val="5A6484"/>
                </a:solidFill>
                <a:latin typeface="Calibri"/>
              </a:rPr>
              <a:t>Supported by credible, retrievable evidence</a:t>
            </a:r>
          </a:p>
        </p:txBody>
      </p:sp>
      <p:sp>
        <p:nvSpPr>
          <p:cNvPr id="10" name="Rounded Rectangle 9"/>
          <p:cNvSpPr/>
          <p:nvPr/>
        </p:nvSpPr>
        <p:spPr>
          <a:xfrm>
            <a:off x="2831531" y="2121408"/>
            <a:ext cx="2054291" cy="1600200"/>
          </a:xfrm>
          <a:prstGeom prst="roundRect">
            <a:avLst>
              <a:gd name="adj" fmla="val 4500"/>
            </a:avLst>
          </a:prstGeom>
          <a:solidFill>
            <a:srgbClr val="FFFFFF"/>
          </a:solidFill>
          <a:ln w="12700">
            <a:solidFill>
              <a:srgbClr val="B328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050987" y="2368296"/>
            <a:ext cx="164592" cy="164592"/>
          </a:xfrm>
          <a:prstGeom prst="ellipse">
            <a:avLst/>
          </a:prstGeom>
          <a:solidFill>
            <a:srgbClr val="B32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88731" y="2304288"/>
            <a:ext cx="1359347" cy="431038"/>
          </a:xfrm>
          <a:prstGeom prst="rect">
            <a:avLst/>
          </a:prstGeom>
          <a:noFill/>
        </p:spPr>
        <p:txBody>
          <a:bodyPr wrap="square" anchor="t" lIns="0" rIns="0" tIns="0" bIns="0">
            <a:spAutoFit/>
          </a:bodyPr>
          <a:lstStyle/>
          <a:p>
            <a:pPr algn="l">
              <a:lnSpc>
                <a:spcPct val="110000"/>
              </a:lnSpc>
              <a:spcAft>
                <a:spcPts val="400"/>
              </a:spcAft>
            </a:pPr>
            <a:r>
              <a:rPr sz="1150" b="1" i="0">
                <a:solidFill>
                  <a:srgbClr val="B3282D"/>
                </a:solidFill>
                <a:latin typeface="Cambria"/>
              </a:rPr>
              <a:t>False</a:t>
            </a:r>
          </a:p>
        </p:txBody>
      </p:sp>
      <p:sp>
        <p:nvSpPr>
          <p:cNvPr id="13" name="TextBox 12"/>
          <p:cNvSpPr txBox="1"/>
          <p:nvPr/>
        </p:nvSpPr>
        <p:spPr>
          <a:xfrm>
            <a:off x="3050987" y="2735326"/>
            <a:ext cx="1615379" cy="839977"/>
          </a:xfrm>
          <a:prstGeom prst="rect">
            <a:avLst/>
          </a:prstGeom>
          <a:noFill/>
        </p:spPr>
        <p:txBody>
          <a:bodyPr wrap="square" anchor="t" lIns="0" rIns="0" tIns="0" bIns="0">
            <a:spAutoFit/>
          </a:bodyPr>
          <a:lstStyle/>
          <a:p>
            <a:pPr algn="l">
              <a:lnSpc>
                <a:spcPct val="116000"/>
              </a:lnSpc>
              <a:spcAft>
                <a:spcPts val="400"/>
              </a:spcAft>
            </a:pPr>
            <a:r>
              <a:rPr sz="950" b="0" i="0">
                <a:solidFill>
                  <a:srgbClr val="5A6484"/>
                </a:solidFill>
                <a:latin typeface="Calibri"/>
              </a:rPr>
              <a:t>Contradicted by credible evidence</a:t>
            </a:r>
          </a:p>
        </p:txBody>
      </p:sp>
      <p:sp>
        <p:nvSpPr>
          <p:cNvPr id="14" name="Rounded Rectangle 13"/>
          <p:cNvSpPr/>
          <p:nvPr/>
        </p:nvSpPr>
        <p:spPr>
          <a:xfrm>
            <a:off x="5068702" y="2121408"/>
            <a:ext cx="2054291" cy="1600200"/>
          </a:xfrm>
          <a:prstGeom prst="roundRect">
            <a:avLst>
              <a:gd name="adj" fmla="val 4500"/>
            </a:avLst>
          </a:prstGeom>
          <a:solidFill>
            <a:srgbClr val="FFFFFF"/>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288158" y="2368296"/>
            <a:ext cx="164592" cy="16459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25902" y="2304288"/>
            <a:ext cx="1359347" cy="431038"/>
          </a:xfrm>
          <a:prstGeom prst="rect">
            <a:avLst/>
          </a:prstGeom>
          <a:noFill/>
        </p:spPr>
        <p:txBody>
          <a:bodyPr wrap="square" anchor="t" lIns="0" rIns="0" tIns="0" bIns="0">
            <a:spAutoFit/>
          </a:bodyPr>
          <a:lstStyle/>
          <a:p>
            <a:pPr algn="l">
              <a:lnSpc>
                <a:spcPct val="110000"/>
              </a:lnSpc>
              <a:spcAft>
                <a:spcPts val="400"/>
              </a:spcAft>
            </a:pPr>
            <a:r>
              <a:rPr sz="1150" b="1" i="0">
                <a:solidFill>
                  <a:srgbClr val="E8A33D"/>
                </a:solidFill>
                <a:latin typeface="Cambria"/>
              </a:rPr>
              <a:t>Misleading</a:t>
            </a:r>
          </a:p>
        </p:txBody>
      </p:sp>
      <p:sp>
        <p:nvSpPr>
          <p:cNvPr id="17" name="TextBox 16"/>
          <p:cNvSpPr txBox="1"/>
          <p:nvPr/>
        </p:nvSpPr>
        <p:spPr>
          <a:xfrm>
            <a:off x="5288158" y="2735326"/>
            <a:ext cx="1615379" cy="839977"/>
          </a:xfrm>
          <a:prstGeom prst="rect">
            <a:avLst/>
          </a:prstGeom>
          <a:noFill/>
        </p:spPr>
        <p:txBody>
          <a:bodyPr wrap="square" anchor="t" lIns="0" rIns="0" tIns="0" bIns="0">
            <a:spAutoFit/>
          </a:bodyPr>
          <a:lstStyle/>
          <a:p>
            <a:pPr algn="l">
              <a:lnSpc>
                <a:spcPct val="116000"/>
              </a:lnSpc>
              <a:spcAft>
                <a:spcPts val="400"/>
              </a:spcAft>
            </a:pPr>
            <a:r>
              <a:rPr sz="950" b="0" i="0">
                <a:solidFill>
                  <a:srgbClr val="5A6484"/>
                </a:solidFill>
                <a:latin typeface="Calibri"/>
              </a:rPr>
              <a:t>Factually defensible but framed to deceive</a:t>
            </a:r>
          </a:p>
        </p:txBody>
      </p:sp>
      <p:sp>
        <p:nvSpPr>
          <p:cNvPr id="18" name="Rounded Rectangle 17"/>
          <p:cNvSpPr/>
          <p:nvPr/>
        </p:nvSpPr>
        <p:spPr>
          <a:xfrm>
            <a:off x="7305873" y="2121408"/>
            <a:ext cx="2054291" cy="1600200"/>
          </a:xfrm>
          <a:prstGeom prst="roundRect">
            <a:avLst>
              <a:gd name="adj" fmla="val 4500"/>
            </a:avLst>
          </a:prstGeom>
          <a:solidFill>
            <a:srgbClr val="FFFFFF"/>
          </a:solidFill>
          <a:ln w="12700">
            <a:solidFill>
              <a:srgbClr val="5A648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525329" y="2368296"/>
            <a:ext cx="164592" cy="164592"/>
          </a:xfrm>
          <a:prstGeom prst="ellipse">
            <a:avLst/>
          </a:prstGeom>
          <a:solidFill>
            <a:srgbClr val="5A6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63073" y="2304288"/>
            <a:ext cx="1359347" cy="431038"/>
          </a:xfrm>
          <a:prstGeom prst="rect">
            <a:avLst/>
          </a:prstGeom>
          <a:noFill/>
        </p:spPr>
        <p:txBody>
          <a:bodyPr wrap="square" anchor="t" lIns="0" rIns="0" tIns="0" bIns="0">
            <a:spAutoFit/>
          </a:bodyPr>
          <a:lstStyle/>
          <a:p>
            <a:pPr algn="l">
              <a:lnSpc>
                <a:spcPct val="110000"/>
              </a:lnSpc>
              <a:spcAft>
                <a:spcPts val="400"/>
              </a:spcAft>
            </a:pPr>
            <a:r>
              <a:rPr sz="1150" b="1" i="0">
                <a:solidFill>
                  <a:srgbClr val="5A6484"/>
                </a:solidFill>
                <a:latin typeface="Cambria"/>
              </a:rPr>
              <a:t>Unverified</a:t>
            </a:r>
          </a:p>
        </p:txBody>
      </p:sp>
      <p:sp>
        <p:nvSpPr>
          <p:cNvPr id="21" name="TextBox 20"/>
          <p:cNvSpPr txBox="1"/>
          <p:nvPr/>
        </p:nvSpPr>
        <p:spPr>
          <a:xfrm>
            <a:off x="7525329" y="2735326"/>
            <a:ext cx="1615379" cy="839977"/>
          </a:xfrm>
          <a:prstGeom prst="rect">
            <a:avLst/>
          </a:prstGeom>
          <a:noFill/>
        </p:spPr>
        <p:txBody>
          <a:bodyPr wrap="square" anchor="t" lIns="0" rIns="0" tIns="0" bIns="0">
            <a:spAutoFit/>
          </a:bodyPr>
          <a:lstStyle/>
          <a:p>
            <a:pPr algn="l">
              <a:lnSpc>
                <a:spcPct val="116000"/>
              </a:lnSpc>
              <a:spcAft>
                <a:spcPts val="400"/>
              </a:spcAft>
            </a:pPr>
            <a:r>
              <a:rPr sz="950" b="0" i="0">
                <a:solidFill>
                  <a:srgbClr val="5A6484"/>
                </a:solidFill>
                <a:latin typeface="Calibri"/>
              </a:rPr>
              <a:t>Evidence exists but is not sufficient either way</a:t>
            </a:r>
          </a:p>
        </p:txBody>
      </p:sp>
      <p:sp>
        <p:nvSpPr>
          <p:cNvPr id="22" name="Rounded Rectangle 21"/>
          <p:cNvSpPr/>
          <p:nvPr/>
        </p:nvSpPr>
        <p:spPr>
          <a:xfrm>
            <a:off x="9543044" y="2121408"/>
            <a:ext cx="2054291" cy="1600200"/>
          </a:xfrm>
          <a:prstGeom prst="roundRect">
            <a:avLst>
              <a:gd name="adj" fmla="val 4500"/>
            </a:avLst>
          </a:prstGeom>
          <a:solidFill>
            <a:srgbClr val="FFFFFF"/>
          </a:solidFill>
          <a:ln w="12700">
            <a:solidFill>
              <a:srgbClr val="8A93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762500" y="2368296"/>
            <a:ext cx="164592" cy="164592"/>
          </a:xfrm>
          <a:prstGeom prst="ellipse">
            <a:avLst/>
          </a:prstGeom>
          <a:solidFill>
            <a:srgbClr val="8A93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00244" y="2304288"/>
            <a:ext cx="1359347" cy="431038"/>
          </a:xfrm>
          <a:prstGeom prst="rect">
            <a:avLst/>
          </a:prstGeom>
          <a:noFill/>
        </p:spPr>
        <p:txBody>
          <a:bodyPr wrap="square" anchor="t" lIns="0" rIns="0" tIns="0" bIns="0">
            <a:spAutoFit/>
          </a:bodyPr>
          <a:lstStyle/>
          <a:p>
            <a:pPr algn="l">
              <a:lnSpc>
                <a:spcPct val="110000"/>
              </a:lnSpc>
              <a:spcAft>
                <a:spcPts val="400"/>
              </a:spcAft>
            </a:pPr>
            <a:r>
              <a:rPr sz="1150" b="1" i="0">
                <a:solidFill>
                  <a:srgbClr val="8A93AD"/>
                </a:solidFill>
                <a:latin typeface="Cambria"/>
              </a:rPr>
              <a:t>Insufficient evidence</a:t>
            </a:r>
          </a:p>
        </p:txBody>
      </p:sp>
      <p:sp>
        <p:nvSpPr>
          <p:cNvPr id="25" name="TextBox 24"/>
          <p:cNvSpPr txBox="1"/>
          <p:nvPr/>
        </p:nvSpPr>
        <p:spPr>
          <a:xfrm>
            <a:off x="9762500" y="2735326"/>
            <a:ext cx="1615379" cy="839977"/>
          </a:xfrm>
          <a:prstGeom prst="rect">
            <a:avLst/>
          </a:prstGeom>
          <a:noFill/>
        </p:spPr>
        <p:txBody>
          <a:bodyPr wrap="square" anchor="t" lIns="0" rIns="0" tIns="0" bIns="0">
            <a:spAutoFit/>
          </a:bodyPr>
          <a:lstStyle/>
          <a:p>
            <a:pPr algn="l">
              <a:lnSpc>
                <a:spcPct val="116000"/>
              </a:lnSpc>
              <a:spcAft>
                <a:spcPts val="400"/>
              </a:spcAft>
            </a:pPr>
            <a:r>
              <a:rPr sz="950" b="0" i="0">
                <a:solidFill>
                  <a:srgbClr val="5A6484"/>
                </a:solidFill>
                <a:latin typeface="Calibri"/>
              </a:rPr>
              <a:t>Not enough evidence was retrievable at all</a:t>
            </a:r>
          </a:p>
        </p:txBody>
      </p:sp>
      <p:sp>
        <p:nvSpPr>
          <p:cNvPr id="26" name="Rounded Rectangle 25"/>
          <p:cNvSpPr/>
          <p:nvPr/>
        </p:nvSpPr>
        <p:spPr>
          <a:xfrm>
            <a:off x="594360" y="4059936"/>
            <a:ext cx="11002975" cy="1481328"/>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23544" y="4279392"/>
            <a:ext cx="10344607" cy="1097280"/>
          </a:xfrm>
          <a:prstGeom prst="rect">
            <a:avLst/>
          </a:prstGeom>
          <a:noFill/>
        </p:spPr>
        <p:txBody>
          <a:bodyPr wrap="square" anchor="t" lIns="0" rIns="0" tIns="0" bIns="0">
            <a:spAutoFit/>
          </a:bodyPr>
          <a:lstStyle/>
          <a:p>
            <a:pPr algn="l">
              <a:lnSpc>
                <a:spcPct val="118000"/>
              </a:lnSpc>
              <a:spcAft>
                <a:spcPts val="500"/>
              </a:spcAft>
            </a:pPr>
            <a:r>
              <a:rPr sz="1400" b="1" i="0">
                <a:solidFill>
                  <a:srgbClr val="0F1631"/>
                </a:solidFill>
                <a:latin typeface="Cambria"/>
              </a:rPr>
              <a:t>Why the last two are kept separate</a:t>
            </a:r>
          </a:p>
          <a:p>
            <a:pPr algn="l">
              <a:lnSpc>
                <a:spcPct val="124000"/>
              </a:lnSpc>
              <a:spcAft>
                <a:spcPts val="400"/>
              </a:spcAft>
            </a:pPr>
            <a:r>
              <a:rPr sz="1150" b="0" i="0">
                <a:solidFill>
                  <a:srgbClr val="5A6484"/>
                </a:solidFill>
                <a:latin typeface="Calibri"/>
              </a:rPr>
              <a:t>"We looked and the evidence is genuinely mixed" and "we could not find enough to look at" are different messages to a user, and they call for different next steps. Collapsing them into one bucket would hide a retrieval failure behind what looks like a considered judgement — so they are enforced as distinct, non-interchangeable states throughout the system.</a:t>
            </a:r>
          </a:p>
        </p:txBody>
      </p:sp>
      <p:sp>
        <p:nvSpPr>
          <p:cNvPr id="28" name="TextBox 27"/>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SYSTEM DESIGN</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Proposed architecture</a:t>
            </a:r>
          </a:p>
        </p:txBody>
      </p:sp>
      <p:sp>
        <p:nvSpPr>
          <p:cNvPr id="5" name="Rounded Rectangle 4"/>
          <p:cNvSpPr/>
          <p:nvPr/>
        </p:nvSpPr>
        <p:spPr>
          <a:xfrm>
            <a:off x="594360" y="1664208"/>
            <a:ext cx="2331720" cy="658368"/>
          </a:xfrm>
          <a:prstGeom prst="roundRect">
            <a:avLst>
              <a:gd name="adj" fmla="val 4500"/>
            </a:avLst>
          </a:prstGeom>
          <a:solidFill>
            <a:srgbClr val="0F1631"/>
          </a:solidFill>
          <a:ln w="12700">
            <a:solidFill>
              <a:srgbClr val="0F16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58952" y="1755648"/>
            <a:ext cx="2002536" cy="475488"/>
          </a:xfrm>
          <a:prstGeom prst="rect">
            <a:avLst/>
          </a:prstGeom>
          <a:noFill/>
        </p:spPr>
        <p:txBody>
          <a:bodyPr wrap="square" anchor="ctr" lIns="0" rIns="0" tIns="0" bIns="0">
            <a:spAutoFit/>
          </a:bodyPr>
          <a:lstStyle/>
          <a:p>
            <a:pPr algn="l">
              <a:lnSpc>
                <a:spcPct val="110000"/>
              </a:lnSpc>
              <a:spcAft>
                <a:spcPts val="400"/>
              </a:spcAft>
            </a:pPr>
            <a:r>
              <a:rPr sz="1150" b="1" i="0">
                <a:solidFill>
                  <a:srgbClr val="FFFFFF"/>
                </a:solidFill>
                <a:latin typeface="Cambria"/>
              </a:rPr>
              <a:t>Channel</a:t>
            </a:r>
          </a:p>
        </p:txBody>
      </p:sp>
      <p:sp>
        <p:nvSpPr>
          <p:cNvPr id="7" name="Rounded Rectangle 6"/>
          <p:cNvSpPr/>
          <p:nvPr/>
        </p:nvSpPr>
        <p:spPr>
          <a:xfrm>
            <a:off x="3054096" y="1664208"/>
            <a:ext cx="8543239" cy="658368"/>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236975" y="1755648"/>
            <a:ext cx="8177479" cy="475488"/>
          </a:xfrm>
          <a:prstGeom prst="rect">
            <a:avLst/>
          </a:prstGeom>
          <a:noFill/>
        </p:spPr>
        <p:txBody>
          <a:bodyPr wrap="square" anchor="ctr" lIns="0" rIns="0" tIns="0" bIns="0">
            <a:spAutoFit/>
          </a:bodyPr>
          <a:lstStyle/>
          <a:p>
            <a:pPr algn="l">
              <a:lnSpc>
                <a:spcPct val="116000"/>
              </a:lnSpc>
              <a:spcAft>
                <a:spcPts val="400"/>
              </a:spcAft>
            </a:pPr>
            <a:r>
              <a:rPr sz="1050" b="0" i="0">
                <a:solidFill>
                  <a:srgbClr val="5A6484"/>
                </a:solidFill>
                <a:latin typeface="Calibri"/>
              </a:rPr>
              <a:t>WhatsApp Cloud API webhook  ·  signature verification  ·  duplicate-message guard  ·  rate limiting</a:t>
            </a:r>
          </a:p>
        </p:txBody>
      </p:sp>
      <p:sp>
        <p:nvSpPr>
          <p:cNvPr id="9" name="Rounded Rectangle 8"/>
          <p:cNvSpPr/>
          <p:nvPr/>
        </p:nvSpPr>
        <p:spPr>
          <a:xfrm>
            <a:off x="594360" y="2423160"/>
            <a:ext cx="2331720" cy="658368"/>
          </a:xfrm>
          <a:prstGeom prst="roundRect">
            <a:avLst>
              <a:gd name="adj" fmla="val 4500"/>
            </a:avLst>
          </a:prstGeom>
          <a:solidFill>
            <a:srgbClr val="0F1631"/>
          </a:solidFill>
          <a:ln w="12700">
            <a:solidFill>
              <a:srgbClr val="0F16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8952" y="2514600"/>
            <a:ext cx="2002536" cy="475488"/>
          </a:xfrm>
          <a:prstGeom prst="rect">
            <a:avLst/>
          </a:prstGeom>
          <a:noFill/>
        </p:spPr>
        <p:txBody>
          <a:bodyPr wrap="square" anchor="ctr" lIns="0" rIns="0" tIns="0" bIns="0">
            <a:spAutoFit/>
          </a:bodyPr>
          <a:lstStyle/>
          <a:p>
            <a:pPr algn="l">
              <a:lnSpc>
                <a:spcPct val="110000"/>
              </a:lnSpc>
              <a:spcAft>
                <a:spcPts val="400"/>
              </a:spcAft>
            </a:pPr>
            <a:r>
              <a:rPr sz="1150" b="1" i="0">
                <a:solidFill>
                  <a:srgbClr val="FFFFFF"/>
                </a:solidFill>
                <a:latin typeface="Cambria"/>
              </a:rPr>
              <a:t>Orchestration</a:t>
            </a:r>
          </a:p>
        </p:txBody>
      </p:sp>
      <p:sp>
        <p:nvSpPr>
          <p:cNvPr id="11" name="Rounded Rectangle 10"/>
          <p:cNvSpPr/>
          <p:nvPr/>
        </p:nvSpPr>
        <p:spPr>
          <a:xfrm>
            <a:off x="3054096" y="2423160"/>
            <a:ext cx="8543239" cy="658368"/>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236975" y="2514600"/>
            <a:ext cx="8177479" cy="475488"/>
          </a:xfrm>
          <a:prstGeom prst="rect">
            <a:avLst/>
          </a:prstGeom>
          <a:noFill/>
        </p:spPr>
        <p:txBody>
          <a:bodyPr wrap="square" anchor="ctr" lIns="0" rIns="0" tIns="0" bIns="0">
            <a:spAutoFit/>
          </a:bodyPr>
          <a:lstStyle/>
          <a:p>
            <a:pPr algn="l">
              <a:lnSpc>
                <a:spcPct val="116000"/>
              </a:lnSpc>
              <a:spcAft>
                <a:spcPts val="400"/>
              </a:spcAft>
            </a:pPr>
            <a:r>
              <a:rPr sz="1050" b="0" i="0">
                <a:solidFill>
                  <a:srgbClr val="5A6484"/>
                </a:solidFill>
                <a:latin typeface="Calibri"/>
              </a:rPr>
              <a:t>Agent pipeline: input routing, claim extraction, evidence retrieval, classification, reply composition</a:t>
            </a:r>
          </a:p>
        </p:txBody>
      </p:sp>
      <p:sp>
        <p:nvSpPr>
          <p:cNvPr id="13" name="Rounded Rectangle 12"/>
          <p:cNvSpPr/>
          <p:nvPr/>
        </p:nvSpPr>
        <p:spPr>
          <a:xfrm>
            <a:off x="594360" y="3182112"/>
            <a:ext cx="2331720" cy="658368"/>
          </a:xfrm>
          <a:prstGeom prst="roundRect">
            <a:avLst>
              <a:gd name="adj" fmla="val 4500"/>
            </a:avLst>
          </a:prstGeom>
          <a:solidFill>
            <a:srgbClr val="0F1631"/>
          </a:solidFill>
          <a:ln w="12700">
            <a:solidFill>
              <a:srgbClr val="0F16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8952" y="3273552"/>
            <a:ext cx="2002536" cy="475488"/>
          </a:xfrm>
          <a:prstGeom prst="rect">
            <a:avLst/>
          </a:prstGeom>
          <a:noFill/>
        </p:spPr>
        <p:txBody>
          <a:bodyPr wrap="square" anchor="ctr" lIns="0" rIns="0" tIns="0" bIns="0">
            <a:spAutoFit/>
          </a:bodyPr>
          <a:lstStyle/>
          <a:p>
            <a:pPr algn="l">
              <a:lnSpc>
                <a:spcPct val="110000"/>
              </a:lnSpc>
              <a:spcAft>
                <a:spcPts val="400"/>
              </a:spcAft>
            </a:pPr>
            <a:r>
              <a:rPr sz="1150" b="1" i="0">
                <a:solidFill>
                  <a:srgbClr val="FFFFFF"/>
                </a:solidFill>
                <a:latin typeface="Cambria"/>
              </a:rPr>
              <a:t>Tools</a:t>
            </a:r>
          </a:p>
        </p:txBody>
      </p:sp>
      <p:sp>
        <p:nvSpPr>
          <p:cNvPr id="15" name="Rounded Rectangle 14"/>
          <p:cNvSpPr/>
          <p:nvPr/>
        </p:nvSpPr>
        <p:spPr>
          <a:xfrm>
            <a:off x="3054096" y="3182112"/>
            <a:ext cx="8543239" cy="658368"/>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236975" y="3273552"/>
            <a:ext cx="8177479" cy="475488"/>
          </a:xfrm>
          <a:prstGeom prst="rect">
            <a:avLst/>
          </a:prstGeom>
          <a:noFill/>
        </p:spPr>
        <p:txBody>
          <a:bodyPr wrap="square" anchor="ctr" lIns="0" rIns="0" tIns="0" bIns="0">
            <a:spAutoFit/>
          </a:bodyPr>
          <a:lstStyle/>
          <a:p>
            <a:pPr algn="l">
              <a:lnSpc>
                <a:spcPct val="116000"/>
              </a:lnSpc>
              <a:spcAft>
                <a:spcPts val="400"/>
              </a:spcAft>
            </a:pPr>
            <a:r>
              <a:rPr sz="1050" b="0" i="0">
                <a:solidFill>
                  <a:srgbClr val="5A6484"/>
                </a:solidFill>
                <a:latin typeface="Calibri"/>
              </a:rPr>
              <a:t>OCR  ·  speech-to-text  ·  URL safety  ·  media forensics  ·  evidence search  ·  source credibility</a:t>
            </a:r>
          </a:p>
        </p:txBody>
      </p:sp>
      <p:sp>
        <p:nvSpPr>
          <p:cNvPr id="17" name="Rounded Rectangle 16"/>
          <p:cNvSpPr/>
          <p:nvPr/>
        </p:nvSpPr>
        <p:spPr>
          <a:xfrm>
            <a:off x="594360" y="3941063"/>
            <a:ext cx="2331720" cy="658368"/>
          </a:xfrm>
          <a:prstGeom prst="roundRect">
            <a:avLst>
              <a:gd name="adj" fmla="val 4500"/>
            </a:avLst>
          </a:prstGeom>
          <a:solidFill>
            <a:srgbClr val="0F1631"/>
          </a:solidFill>
          <a:ln w="12700">
            <a:solidFill>
              <a:srgbClr val="0F16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58952" y="4032503"/>
            <a:ext cx="2002536" cy="475488"/>
          </a:xfrm>
          <a:prstGeom prst="rect">
            <a:avLst/>
          </a:prstGeom>
          <a:noFill/>
        </p:spPr>
        <p:txBody>
          <a:bodyPr wrap="square" anchor="ctr" lIns="0" rIns="0" tIns="0" bIns="0">
            <a:spAutoFit/>
          </a:bodyPr>
          <a:lstStyle/>
          <a:p>
            <a:pPr algn="l">
              <a:lnSpc>
                <a:spcPct val="110000"/>
              </a:lnSpc>
              <a:spcAft>
                <a:spcPts val="400"/>
              </a:spcAft>
            </a:pPr>
            <a:r>
              <a:rPr sz="1150" b="1" i="0">
                <a:solidFill>
                  <a:srgbClr val="FFFFFF"/>
                </a:solidFill>
                <a:latin typeface="Cambria"/>
              </a:rPr>
              <a:t>Model &amp; data</a:t>
            </a:r>
          </a:p>
        </p:txBody>
      </p:sp>
      <p:sp>
        <p:nvSpPr>
          <p:cNvPr id="19" name="Rounded Rectangle 18"/>
          <p:cNvSpPr/>
          <p:nvPr/>
        </p:nvSpPr>
        <p:spPr>
          <a:xfrm>
            <a:off x="3054096" y="3941063"/>
            <a:ext cx="8543239" cy="658368"/>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236975" y="4032503"/>
            <a:ext cx="8177479" cy="475488"/>
          </a:xfrm>
          <a:prstGeom prst="rect">
            <a:avLst/>
          </a:prstGeom>
          <a:noFill/>
        </p:spPr>
        <p:txBody>
          <a:bodyPr wrap="square" anchor="ctr" lIns="0" rIns="0" tIns="0" bIns="0">
            <a:spAutoFit/>
          </a:bodyPr>
          <a:lstStyle/>
          <a:p>
            <a:pPr algn="l">
              <a:lnSpc>
                <a:spcPct val="116000"/>
              </a:lnSpc>
              <a:spcAft>
                <a:spcPts val="400"/>
              </a:spcAft>
            </a:pPr>
            <a:r>
              <a:rPr sz="1050" b="0" i="0">
                <a:solidFill>
                  <a:srgbClr val="5A6484"/>
                </a:solidFill>
                <a:latin typeface="Calibri"/>
              </a:rPr>
              <a:t>LLM provider  ·  search provider  ·  relational database  ·  cache and rate-limit store</a:t>
            </a:r>
          </a:p>
        </p:txBody>
      </p:sp>
      <p:sp>
        <p:nvSpPr>
          <p:cNvPr id="21" name="Rounded Rectangle 20"/>
          <p:cNvSpPr/>
          <p:nvPr/>
        </p:nvSpPr>
        <p:spPr>
          <a:xfrm>
            <a:off x="594360" y="4700016"/>
            <a:ext cx="2331720" cy="658368"/>
          </a:xfrm>
          <a:prstGeom prst="roundRect">
            <a:avLst>
              <a:gd name="adj" fmla="val 4500"/>
            </a:avLst>
          </a:prstGeom>
          <a:solidFill>
            <a:srgbClr val="0F1631"/>
          </a:solidFill>
          <a:ln w="12700">
            <a:solidFill>
              <a:srgbClr val="0F16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58952" y="4791455"/>
            <a:ext cx="2002536" cy="475488"/>
          </a:xfrm>
          <a:prstGeom prst="rect">
            <a:avLst/>
          </a:prstGeom>
          <a:noFill/>
        </p:spPr>
        <p:txBody>
          <a:bodyPr wrap="square" anchor="ctr" lIns="0" rIns="0" tIns="0" bIns="0">
            <a:spAutoFit/>
          </a:bodyPr>
          <a:lstStyle/>
          <a:p>
            <a:pPr algn="l">
              <a:lnSpc>
                <a:spcPct val="110000"/>
              </a:lnSpc>
              <a:spcAft>
                <a:spcPts val="400"/>
              </a:spcAft>
            </a:pPr>
            <a:r>
              <a:rPr sz="1150" b="1" i="0">
                <a:solidFill>
                  <a:srgbClr val="FFFFFF"/>
                </a:solidFill>
                <a:latin typeface="Cambria"/>
              </a:rPr>
              <a:t>Delivery</a:t>
            </a:r>
          </a:p>
        </p:txBody>
      </p:sp>
      <p:sp>
        <p:nvSpPr>
          <p:cNvPr id="23" name="Rounded Rectangle 22"/>
          <p:cNvSpPr/>
          <p:nvPr/>
        </p:nvSpPr>
        <p:spPr>
          <a:xfrm>
            <a:off x="3054096" y="4700016"/>
            <a:ext cx="8543239" cy="658368"/>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236975" y="4791455"/>
            <a:ext cx="8177479" cy="475488"/>
          </a:xfrm>
          <a:prstGeom prst="rect">
            <a:avLst/>
          </a:prstGeom>
          <a:noFill/>
        </p:spPr>
        <p:txBody>
          <a:bodyPr wrap="square" anchor="ctr" lIns="0" rIns="0" tIns="0" bIns="0">
            <a:spAutoFit/>
          </a:bodyPr>
          <a:lstStyle/>
          <a:p>
            <a:pPr algn="l">
              <a:lnSpc>
                <a:spcPct val="116000"/>
              </a:lnSpc>
              <a:spcAft>
                <a:spcPts val="400"/>
              </a:spcAft>
            </a:pPr>
            <a:r>
              <a:rPr sz="1050" b="0" i="0">
                <a:solidFill>
                  <a:srgbClr val="5A6484"/>
                </a:solidFill>
                <a:latin typeface="Calibri"/>
              </a:rPr>
              <a:t>Localised reply templates  ·  user dashboard API  ·  PDF report generation</a:t>
            </a:r>
          </a:p>
        </p:txBody>
      </p:sp>
      <p:sp>
        <p:nvSpPr>
          <p:cNvPr id="25" name="Rounded Rectangle 24"/>
          <p:cNvSpPr/>
          <p:nvPr/>
        </p:nvSpPr>
        <p:spPr>
          <a:xfrm>
            <a:off x="594360" y="5586983"/>
            <a:ext cx="11002975" cy="713232"/>
          </a:xfrm>
          <a:prstGeom prst="roundRect">
            <a:avLst>
              <a:gd name="adj" fmla="val 4500"/>
            </a:avLst>
          </a:prstGeom>
          <a:solidFill>
            <a:srgbClr val="FDF3E0"/>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68680" y="5714999"/>
            <a:ext cx="10454335" cy="475488"/>
          </a:xfrm>
          <a:prstGeom prst="rect">
            <a:avLst/>
          </a:prstGeom>
          <a:noFill/>
        </p:spPr>
        <p:txBody>
          <a:bodyPr wrap="square" anchor="t" lIns="0" rIns="0" tIns="0" bIns="0">
            <a:spAutoFit/>
          </a:bodyPr>
          <a:lstStyle/>
          <a:p>
            <a:pPr algn="l">
              <a:lnSpc>
                <a:spcPct val="122000"/>
              </a:lnSpc>
              <a:spcAft>
                <a:spcPts val="400"/>
              </a:spcAft>
            </a:pPr>
            <a:r>
              <a:rPr sz="1100" b="0" i="0">
                <a:solidFill>
                  <a:srgbClr val="0F1631"/>
                </a:solidFill>
                <a:latin typeface="Calibri"/>
              </a:rPr>
              <a:t>Design principle carried through every layer:  every external service sits behind an interface with a working no-credential fallback, so the system is always runnable and its real capability is always honestly reported.</a:t>
            </a:r>
          </a:p>
        </p:txBody>
      </p:sp>
      <p:sp>
        <p:nvSpPr>
          <p:cNvPr id="27" name="TextBox 26"/>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IMPLEMENTATION PLAN</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Technology choices and why</a:t>
            </a:r>
          </a:p>
        </p:txBody>
      </p:sp>
      <p:sp>
        <p:nvSpPr>
          <p:cNvPr id="5" name="Rounded Rectangle 4"/>
          <p:cNvSpPr/>
          <p:nvPr/>
        </p:nvSpPr>
        <p:spPr>
          <a:xfrm>
            <a:off x="594360" y="1664208"/>
            <a:ext cx="11002975" cy="402336"/>
          </a:xfrm>
          <a:prstGeom prst="roundRect">
            <a:avLst>
              <a:gd name="adj" fmla="val 4500"/>
            </a:avLst>
          </a:prstGeom>
          <a:solidFill>
            <a:srgbClr val="0F1631"/>
          </a:solidFill>
          <a:ln w="12700">
            <a:solidFill>
              <a:srgbClr val="0F16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0664" y="1719072"/>
            <a:ext cx="1817827" cy="292608"/>
          </a:xfrm>
          <a:prstGeom prst="rect">
            <a:avLst/>
          </a:prstGeom>
          <a:noFill/>
        </p:spPr>
        <p:txBody>
          <a:bodyPr wrap="square" anchor="ctr" lIns="0" rIns="0" tIns="0" bIns="0">
            <a:spAutoFit/>
          </a:bodyPr>
          <a:lstStyle/>
          <a:p>
            <a:pPr algn="l">
              <a:lnSpc>
                <a:spcPct val="118000"/>
              </a:lnSpc>
              <a:spcAft>
                <a:spcPts val="400"/>
              </a:spcAft>
            </a:pPr>
            <a:r>
              <a:rPr sz="1000" b="1" i="0">
                <a:solidFill>
                  <a:srgbClr val="FFFFFF"/>
                </a:solidFill>
                <a:latin typeface="Calibri"/>
              </a:rPr>
              <a:t>Layer</a:t>
            </a:r>
          </a:p>
        </p:txBody>
      </p:sp>
      <p:sp>
        <p:nvSpPr>
          <p:cNvPr id="7" name="TextBox 6"/>
          <p:cNvSpPr txBox="1"/>
          <p:nvPr/>
        </p:nvSpPr>
        <p:spPr>
          <a:xfrm>
            <a:off x="2814523" y="1719072"/>
            <a:ext cx="2624328" cy="292608"/>
          </a:xfrm>
          <a:prstGeom prst="rect">
            <a:avLst/>
          </a:prstGeom>
          <a:noFill/>
        </p:spPr>
        <p:txBody>
          <a:bodyPr wrap="square" anchor="ctr" lIns="0" rIns="0" tIns="0" bIns="0">
            <a:spAutoFit/>
          </a:bodyPr>
          <a:lstStyle/>
          <a:p>
            <a:pPr algn="l">
              <a:lnSpc>
                <a:spcPct val="118000"/>
              </a:lnSpc>
              <a:spcAft>
                <a:spcPts val="400"/>
              </a:spcAft>
            </a:pPr>
            <a:r>
              <a:rPr sz="1000" b="1" i="0">
                <a:solidFill>
                  <a:srgbClr val="FFFFFF"/>
                </a:solidFill>
                <a:latin typeface="Calibri"/>
              </a:rPr>
              <a:t>Choice</a:t>
            </a:r>
          </a:p>
        </p:txBody>
      </p:sp>
      <p:sp>
        <p:nvSpPr>
          <p:cNvPr id="8" name="TextBox 7"/>
          <p:cNvSpPr txBox="1"/>
          <p:nvPr/>
        </p:nvSpPr>
        <p:spPr>
          <a:xfrm>
            <a:off x="5694883" y="1719072"/>
            <a:ext cx="5792723" cy="292608"/>
          </a:xfrm>
          <a:prstGeom prst="rect">
            <a:avLst/>
          </a:prstGeom>
          <a:noFill/>
        </p:spPr>
        <p:txBody>
          <a:bodyPr wrap="square" anchor="ctr" lIns="0" rIns="0" tIns="0" bIns="0">
            <a:spAutoFit/>
          </a:bodyPr>
          <a:lstStyle/>
          <a:p>
            <a:pPr algn="l">
              <a:lnSpc>
                <a:spcPct val="118000"/>
              </a:lnSpc>
              <a:spcAft>
                <a:spcPts val="400"/>
              </a:spcAft>
            </a:pPr>
            <a:r>
              <a:rPr sz="1000" b="1" i="0">
                <a:solidFill>
                  <a:srgbClr val="FFFFFF"/>
                </a:solidFill>
                <a:latin typeface="Calibri"/>
              </a:rPr>
              <a:t>Reason for choosing it</a:t>
            </a:r>
          </a:p>
        </p:txBody>
      </p:sp>
      <p:sp>
        <p:nvSpPr>
          <p:cNvPr id="9" name="Rounded Rectangle 8"/>
          <p:cNvSpPr/>
          <p:nvPr/>
        </p:nvSpPr>
        <p:spPr>
          <a:xfrm>
            <a:off x="594360" y="2066544"/>
            <a:ext cx="11002975" cy="548640"/>
          </a:xfrm>
          <a:prstGeom prst="roundRect">
            <a:avLst>
              <a:gd name="adj" fmla="val 1000"/>
            </a:avLst>
          </a:prstGeom>
          <a:solidFill>
            <a:srgbClr val="EEF2FA"/>
          </a:solidFill>
          <a:ln w="12700">
            <a:solidFill>
              <a:srgbClr val="EEF2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0664" y="2084832"/>
            <a:ext cx="1817827"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Runtime</a:t>
            </a:r>
          </a:p>
        </p:txBody>
      </p:sp>
      <p:sp>
        <p:nvSpPr>
          <p:cNvPr id="11" name="TextBox 10"/>
          <p:cNvSpPr txBox="1"/>
          <p:nvPr/>
        </p:nvSpPr>
        <p:spPr>
          <a:xfrm>
            <a:off x="2814523" y="2084832"/>
            <a:ext cx="2624328"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Python + FastAPI</a:t>
            </a:r>
          </a:p>
        </p:txBody>
      </p:sp>
      <p:sp>
        <p:nvSpPr>
          <p:cNvPr id="12" name="TextBox 11"/>
          <p:cNvSpPr txBox="1"/>
          <p:nvPr/>
        </p:nvSpPr>
        <p:spPr>
          <a:xfrm>
            <a:off x="5694883" y="2084832"/>
            <a:ext cx="5792723"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Async-native, which matters when most request time is spent waiting on external APIs</a:t>
            </a:r>
          </a:p>
        </p:txBody>
      </p:sp>
      <p:sp>
        <p:nvSpPr>
          <p:cNvPr id="13" name="TextBox 12"/>
          <p:cNvSpPr txBox="1"/>
          <p:nvPr/>
        </p:nvSpPr>
        <p:spPr>
          <a:xfrm>
            <a:off x="740664" y="2633472"/>
            <a:ext cx="1817827"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Reasoning</a:t>
            </a:r>
          </a:p>
        </p:txBody>
      </p:sp>
      <p:sp>
        <p:nvSpPr>
          <p:cNvPr id="14" name="TextBox 13"/>
          <p:cNvSpPr txBox="1"/>
          <p:nvPr/>
        </p:nvSpPr>
        <p:spPr>
          <a:xfrm>
            <a:off x="2814523" y="2633472"/>
            <a:ext cx="2624328"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Claude (Anthropic)</a:t>
            </a:r>
          </a:p>
        </p:txBody>
      </p:sp>
      <p:sp>
        <p:nvSpPr>
          <p:cNvPr id="15" name="TextBox 14"/>
          <p:cNvSpPr txBox="1"/>
          <p:nvPr/>
        </p:nvSpPr>
        <p:spPr>
          <a:xfrm>
            <a:off x="5694883" y="2633472"/>
            <a:ext cx="5792723"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Strong multilingual performance across all four target languages; native tool-use for structured extraction</a:t>
            </a:r>
          </a:p>
        </p:txBody>
      </p:sp>
      <p:sp>
        <p:nvSpPr>
          <p:cNvPr id="16" name="Rounded Rectangle 15"/>
          <p:cNvSpPr/>
          <p:nvPr/>
        </p:nvSpPr>
        <p:spPr>
          <a:xfrm>
            <a:off x="594360" y="3163824"/>
            <a:ext cx="11002975" cy="548640"/>
          </a:xfrm>
          <a:prstGeom prst="roundRect">
            <a:avLst>
              <a:gd name="adj" fmla="val 1000"/>
            </a:avLst>
          </a:prstGeom>
          <a:solidFill>
            <a:srgbClr val="EEF2FA"/>
          </a:solidFill>
          <a:ln w="12700">
            <a:solidFill>
              <a:srgbClr val="EEF2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0664" y="3182112"/>
            <a:ext cx="1817827"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Evidence</a:t>
            </a:r>
          </a:p>
        </p:txBody>
      </p:sp>
      <p:sp>
        <p:nvSpPr>
          <p:cNvPr id="18" name="TextBox 17"/>
          <p:cNvSpPr txBox="1"/>
          <p:nvPr/>
        </p:nvSpPr>
        <p:spPr>
          <a:xfrm>
            <a:off x="2814523" y="3182112"/>
            <a:ext cx="2624328"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Tavily search API</a:t>
            </a:r>
          </a:p>
        </p:txBody>
      </p:sp>
      <p:sp>
        <p:nvSpPr>
          <p:cNvPr id="19" name="TextBox 18"/>
          <p:cNvSpPr txBox="1"/>
          <p:nvPr/>
        </p:nvSpPr>
        <p:spPr>
          <a:xfrm>
            <a:off x="5694883" y="3182112"/>
            <a:ext cx="5792723"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Built for retrieval-augmented use, returns clean extracts rather than raw HTML</a:t>
            </a:r>
          </a:p>
        </p:txBody>
      </p:sp>
      <p:sp>
        <p:nvSpPr>
          <p:cNvPr id="20" name="TextBox 19"/>
          <p:cNvSpPr txBox="1"/>
          <p:nvPr/>
        </p:nvSpPr>
        <p:spPr>
          <a:xfrm>
            <a:off x="740664" y="3730752"/>
            <a:ext cx="1817827"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Persistence</a:t>
            </a:r>
          </a:p>
        </p:txBody>
      </p:sp>
      <p:sp>
        <p:nvSpPr>
          <p:cNvPr id="21" name="TextBox 20"/>
          <p:cNvSpPr txBox="1"/>
          <p:nvPr/>
        </p:nvSpPr>
        <p:spPr>
          <a:xfrm>
            <a:off x="2814523" y="3730752"/>
            <a:ext cx="2624328"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PostgreSQL + SQLAlchemy 2.0</a:t>
            </a:r>
          </a:p>
        </p:txBody>
      </p:sp>
      <p:sp>
        <p:nvSpPr>
          <p:cNvPr id="22" name="TextBox 21"/>
          <p:cNvSpPr txBox="1"/>
          <p:nvPr/>
        </p:nvSpPr>
        <p:spPr>
          <a:xfrm>
            <a:off x="5694883" y="3730752"/>
            <a:ext cx="5792723"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Relational integrity for analyses, verdicts and audit trails; async driver throughout</a:t>
            </a:r>
          </a:p>
        </p:txBody>
      </p:sp>
      <p:sp>
        <p:nvSpPr>
          <p:cNvPr id="23" name="Rounded Rectangle 22"/>
          <p:cNvSpPr/>
          <p:nvPr/>
        </p:nvSpPr>
        <p:spPr>
          <a:xfrm>
            <a:off x="594360" y="4261104"/>
            <a:ext cx="11002975" cy="548640"/>
          </a:xfrm>
          <a:prstGeom prst="roundRect">
            <a:avLst>
              <a:gd name="adj" fmla="val 1000"/>
            </a:avLst>
          </a:prstGeom>
          <a:solidFill>
            <a:srgbClr val="EEF2FA"/>
          </a:solidFill>
          <a:ln w="12700">
            <a:solidFill>
              <a:srgbClr val="EEF2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0664" y="4279392"/>
            <a:ext cx="1817827"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Migrations</a:t>
            </a:r>
          </a:p>
        </p:txBody>
      </p:sp>
      <p:sp>
        <p:nvSpPr>
          <p:cNvPr id="25" name="TextBox 24"/>
          <p:cNvSpPr txBox="1"/>
          <p:nvPr/>
        </p:nvSpPr>
        <p:spPr>
          <a:xfrm>
            <a:off x="2814523" y="4279392"/>
            <a:ext cx="2624328"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Alembic</a:t>
            </a:r>
          </a:p>
        </p:txBody>
      </p:sp>
      <p:sp>
        <p:nvSpPr>
          <p:cNvPr id="26" name="TextBox 25"/>
          <p:cNvSpPr txBox="1"/>
          <p:nvPr/>
        </p:nvSpPr>
        <p:spPr>
          <a:xfrm>
            <a:off x="5694883" y="4279392"/>
            <a:ext cx="5792723"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Reversible, reviewable schema changes — required for a system holding personal data</a:t>
            </a:r>
          </a:p>
        </p:txBody>
      </p:sp>
      <p:sp>
        <p:nvSpPr>
          <p:cNvPr id="27" name="TextBox 26"/>
          <p:cNvSpPr txBox="1"/>
          <p:nvPr/>
        </p:nvSpPr>
        <p:spPr>
          <a:xfrm>
            <a:off x="740664" y="4828031"/>
            <a:ext cx="1817827"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Cache / limits</a:t>
            </a:r>
          </a:p>
        </p:txBody>
      </p:sp>
      <p:sp>
        <p:nvSpPr>
          <p:cNvPr id="28" name="TextBox 27"/>
          <p:cNvSpPr txBox="1"/>
          <p:nvPr/>
        </p:nvSpPr>
        <p:spPr>
          <a:xfrm>
            <a:off x="2814523" y="4828031"/>
            <a:ext cx="2624328"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Redis</a:t>
            </a:r>
          </a:p>
        </p:txBody>
      </p:sp>
      <p:sp>
        <p:nvSpPr>
          <p:cNvPr id="29" name="TextBox 28"/>
          <p:cNvSpPr txBox="1"/>
          <p:nvPr/>
        </p:nvSpPr>
        <p:spPr>
          <a:xfrm>
            <a:off x="5694883" y="4828031"/>
            <a:ext cx="5792723"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Atomic operations for rate limiting, duplicate suppression and token revocation</a:t>
            </a:r>
          </a:p>
        </p:txBody>
      </p:sp>
      <p:sp>
        <p:nvSpPr>
          <p:cNvPr id="30" name="Rounded Rectangle 29"/>
          <p:cNvSpPr/>
          <p:nvPr/>
        </p:nvSpPr>
        <p:spPr>
          <a:xfrm>
            <a:off x="594360" y="5358383"/>
            <a:ext cx="11002975" cy="548640"/>
          </a:xfrm>
          <a:prstGeom prst="roundRect">
            <a:avLst>
              <a:gd name="adj" fmla="val 1000"/>
            </a:avLst>
          </a:prstGeom>
          <a:solidFill>
            <a:srgbClr val="EEF2FA"/>
          </a:solidFill>
          <a:ln w="12700">
            <a:solidFill>
              <a:srgbClr val="EEF2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0664" y="5376671"/>
            <a:ext cx="1817827"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Speech</a:t>
            </a:r>
          </a:p>
        </p:txBody>
      </p:sp>
      <p:sp>
        <p:nvSpPr>
          <p:cNvPr id="32" name="TextBox 31"/>
          <p:cNvSpPr txBox="1"/>
          <p:nvPr/>
        </p:nvSpPr>
        <p:spPr>
          <a:xfrm>
            <a:off x="2814523" y="5376671"/>
            <a:ext cx="2624328"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Sarvam AI</a:t>
            </a:r>
          </a:p>
        </p:txBody>
      </p:sp>
      <p:sp>
        <p:nvSpPr>
          <p:cNvPr id="33" name="TextBox 32"/>
          <p:cNvSpPr txBox="1"/>
          <p:nvPr/>
        </p:nvSpPr>
        <p:spPr>
          <a:xfrm>
            <a:off x="5694883" y="5376671"/>
            <a:ext cx="5792723" cy="512063"/>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Purpose-built for Indian languages including code-mixing, unlike general-purpose ASR</a:t>
            </a:r>
          </a:p>
        </p:txBody>
      </p:sp>
      <p:sp>
        <p:nvSpPr>
          <p:cNvPr id="34" name="TextBox 33"/>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RISK REGISTER</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Risks we are naming before we start</a:t>
            </a:r>
          </a:p>
        </p:txBody>
      </p:sp>
      <p:sp>
        <p:nvSpPr>
          <p:cNvPr id="5" name="TextBox 4"/>
          <p:cNvSpPr txBox="1"/>
          <p:nvPr/>
        </p:nvSpPr>
        <p:spPr>
          <a:xfrm>
            <a:off x="594360" y="1591056"/>
            <a:ext cx="10728655" cy="420624"/>
          </a:xfrm>
          <a:prstGeom prst="rect">
            <a:avLst/>
          </a:prstGeom>
          <a:noFill/>
        </p:spPr>
        <p:txBody>
          <a:bodyPr wrap="square" anchor="t" lIns="0" rIns="0" tIns="0" bIns="0">
            <a:spAutoFit/>
          </a:bodyPr>
          <a:lstStyle/>
          <a:p>
            <a:pPr algn="l">
              <a:lnSpc>
                <a:spcPct val="122000"/>
              </a:lnSpc>
              <a:spcAft>
                <a:spcPts val="400"/>
              </a:spcAft>
            </a:pPr>
            <a:r>
              <a:rPr sz="1250" b="0" i="0">
                <a:solidFill>
                  <a:srgbClr val="5A6484"/>
                </a:solidFill>
                <a:latin typeface="Calibri"/>
              </a:rPr>
              <a:t>Each of these was identified during design and shapes the plan, rather than being discovered mid-build.</a:t>
            </a:r>
          </a:p>
        </p:txBody>
      </p:sp>
      <p:sp>
        <p:nvSpPr>
          <p:cNvPr id="6" name="Rounded Rectangle 5"/>
          <p:cNvSpPr/>
          <p:nvPr/>
        </p:nvSpPr>
        <p:spPr>
          <a:xfrm>
            <a:off x="594360" y="2157984"/>
            <a:ext cx="3509162" cy="1900681"/>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13816" y="2395728"/>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R1</a:t>
            </a:r>
          </a:p>
        </p:txBody>
      </p:sp>
      <p:sp>
        <p:nvSpPr>
          <p:cNvPr id="8" name="TextBox 7"/>
          <p:cNvSpPr txBox="1"/>
          <p:nvPr/>
        </p:nvSpPr>
        <p:spPr>
          <a:xfrm>
            <a:off x="813816" y="2907792"/>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Indic-language accuracy</a:t>
            </a:r>
          </a:p>
        </p:txBody>
      </p:sp>
      <p:sp>
        <p:nvSpPr>
          <p:cNvPr id="9" name="TextBox 8"/>
          <p:cNvSpPr txBox="1"/>
          <p:nvPr/>
        </p:nvSpPr>
        <p:spPr>
          <a:xfrm>
            <a:off x="813816" y="3162554"/>
            <a:ext cx="3070250" cy="76809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OCR and speech engines measurably underperform on Malayalam and Tamil. Mitigation: benchmark per language before committing to any engine.</a:t>
            </a:r>
          </a:p>
        </p:txBody>
      </p:sp>
      <p:sp>
        <p:nvSpPr>
          <p:cNvPr id="10" name="Rounded Rectangle 9"/>
          <p:cNvSpPr/>
          <p:nvPr/>
        </p:nvSpPr>
        <p:spPr>
          <a:xfrm>
            <a:off x="4341266" y="2157984"/>
            <a:ext cx="3509162" cy="1900681"/>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0722" y="2395728"/>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R2</a:t>
            </a:r>
          </a:p>
        </p:txBody>
      </p:sp>
      <p:sp>
        <p:nvSpPr>
          <p:cNvPr id="12" name="TextBox 11"/>
          <p:cNvSpPr txBox="1"/>
          <p:nvPr/>
        </p:nvSpPr>
        <p:spPr>
          <a:xfrm>
            <a:off x="4560722" y="2907792"/>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Defamation exposure</a:t>
            </a:r>
          </a:p>
        </p:txBody>
      </p:sp>
      <p:sp>
        <p:nvSpPr>
          <p:cNvPr id="13" name="TextBox 12"/>
          <p:cNvSpPr txBox="1"/>
          <p:nvPr/>
        </p:nvSpPr>
        <p:spPr>
          <a:xfrm>
            <a:off x="4560722" y="3162554"/>
            <a:ext cx="3070250" cy="76809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Labelling a claim "false" carries legal risk. Mitigation: evidence-first wording, a higher bar for high-impact claims, and an appeals route.</a:t>
            </a:r>
          </a:p>
        </p:txBody>
      </p:sp>
      <p:sp>
        <p:nvSpPr>
          <p:cNvPr id="14" name="Rounded Rectangle 13"/>
          <p:cNvSpPr/>
          <p:nvPr/>
        </p:nvSpPr>
        <p:spPr>
          <a:xfrm>
            <a:off x="8088172" y="2157984"/>
            <a:ext cx="3509162" cy="1900681"/>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07628" y="2395728"/>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R3</a:t>
            </a:r>
          </a:p>
        </p:txBody>
      </p:sp>
      <p:sp>
        <p:nvSpPr>
          <p:cNvPr id="16" name="TextBox 15"/>
          <p:cNvSpPr txBox="1"/>
          <p:nvPr/>
        </p:nvSpPr>
        <p:spPr>
          <a:xfrm>
            <a:off x="8307628" y="2907792"/>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Illegal content</a:t>
            </a:r>
          </a:p>
        </p:txBody>
      </p:sp>
      <p:sp>
        <p:nvSpPr>
          <p:cNvPr id="17" name="TextBox 16"/>
          <p:cNvSpPr txBox="1"/>
          <p:nvPr/>
        </p:nvSpPr>
        <p:spPr>
          <a:xfrm>
            <a:off x="8307628" y="3162554"/>
            <a:ext cx="3070250" cy="76809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An open inbox will receive harmful media. Mitigation: a safety gate ahead of all processing, and no public launch until a real provider is contracted.</a:t>
            </a:r>
          </a:p>
        </p:txBody>
      </p:sp>
      <p:sp>
        <p:nvSpPr>
          <p:cNvPr id="18" name="Rounded Rectangle 17"/>
          <p:cNvSpPr/>
          <p:nvPr/>
        </p:nvSpPr>
        <p:spPr>
          <a:xfrm>
            <a:off x="594360" y="4296410"/>
            <a:ext cx="3509162" cy="1900681"/>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13816" y="4534154"/>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R4</a:t>
            </a:r>
          </a:p>
        </p:txBody>
      </p:sp>
      <p:sp>
        <p:nvSpPr>
          <p:cNvPr id="20" name="TextBox 19"/>
          <p:cNvSpPr txBox="1"/>
          <p:nvPr/>
        </p:nvSpPr>
        <p:spPr>
          <a:xfrm>
            <a:off x="813816" y="5046217"/>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Model fabrication</a:t>
            </a:r>
          </a:p>
        </p:txBody>
      </p:sp>
      <p:sp>
        <p:nvSpPr>
          <p:cNvPr id="21" name="TextBox 20"/>
          <p:cNvSpPr txBox="1"/>
          <p:nvPr/>
        </p:nvSpPr>
        <p:spPr>
          <a:xfrm>
            <a:off x="813816" y="5300979"/>
            <a:ext cx="3070250" cy="76809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An LLM will invent a confident verdict if allowed to. Mitigation: the model proposes, deterministic code decides.</a:t>
            </a:r>
          </a:p>
        </p:txBody>
      </p:sp>
      <p:sp>
        <p:nvSpPr>
          <p:cNvPr id="22" name="Rounded Rectangle 21"/>
          <p:cNvSpPr/>
          <p:nvPr/>
        </p:nvSpPr>
        <p:spPr>
          <a:xfrm>
            <a:off x="4341266" y="4296410"/>
            <a:ext cx="3509162" cy="1900681"/>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0722" y="4534154"/>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R5</a:t>
            </a:r>
          </a:p>
        </p:txBody>
      </p:sp>
      <p:sp>
        <p:nvSpPr>
          <p:cNvPr id="24" name="TextBox 23"/>
          <p:cNvSpPr txBox="1"/>
          <p:nvPr/>
        </p:nvSpPr>
        <p:spPr>
          <a:xfrm>
            <a:off x="4560722" y="5046217"/>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DPDP compliance</a:t>
            </a:r>
          </a:p>
        </p:txBody>
      </p:sp>
      <p:sp>
        <p:nvSpPr>
          <p:cNvPr id="25" name="TextBox 24"/>
          <p:cNvSpPr txBox="1"/>
          <p:nvPr/>
        </p:nvSpPr>
        <p:spPr>
          <a:xfrm>
            <a:off x="4560722" y="5300979"/>
            <a:ext cx="3070250" cy="76809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Phone numbers and message content are personal data. Mitigation: encryption, minimal retention, privacy mode, and a documented legal review gate.</a:t>
            </a:r>
          </a:p>
        </p:txBody>
      </p:sp>
      <p:sp>
        <p:nvSpPr>
          <p:cNvPr id="26" name="Rounded Rectangle 25"/>
          <p:cNvSpPr/>
          <p:nvPr/>
        </p:nvSpPr>
        <p:spPr>
          <a:xfrm>
            <a:off x="8088172" y="4296410"/>
            <a:ext cx="3509162" cy="1900681"/>
          </a:xfrm>
          <a:prstGeom prst="roundRect">
            <a:avLst>
              <a:gd name="adj" fmla="val 4500"/>
            </a:avLst>
          </a:prstGeom>
          <a:solidFill>
            <a:srgbClr val="EEF2FA"/>
          </a:solidFill>
          <a:ln w="12700">
            <a:solidFill>
              <a:srgbClr val="D4DD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307628" y="4534154"/>
            <a:ext cx="384048" cy="384048"/>
          </a:xfrm>
          <a:prstGeom prst="ellipse">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mbria"/>
              </a:rPr>
              <a:t>R6</a:t>
            </a:r>
          </a:p>
        </p:txBody>
      </p:sp>
      <p:sp>
        <p:nvSpPr>
          <p:cNvPr id="28" name="TextBox 27"/>
          <p:cNvSpPr txBox="1"/>
          <p:nvPr/>
        </p:nvSpPr>
        <p:spPr>
          <a:xfrm>
            <a:off x="8307628" y="5046217"/>
            <a:ext cx="3070250" cy="291338"/>
          </a:xfrm>
          <a:prstGeom prst="rect">
            <a:avLst/>
          </a:prstGeom>
          <a:noFill/>
        </p:spPr>
        <p:txBody>
          <a:bodyPr wrap="square" anchor="t" lIns="0" rIns="0" tIns="0" bIns="0">
            <a:spAutoFit/>
          </a:bodyPr>
          <a:lstStyle/>
          <a:p>
            <a:pPr algn="l">
              <a:lnSpc>
                <a:spcPct val="110000"/>
              </a:lnSpc>
              <a:spcAft>
                <a:spcPts val="400"/>
              </a:spcAft>
            </a:pPr>
            <a:r>
              <a:rPr sz="1300" b="1" i="0">
                <a:solidFill>
                  <a:srgbClr val="0F1631"/>
                </a:solidFill>
                <a:latin typeface="Cambria"/>
              </a:rPr>
              <a:t>External dependencies</a:t>
            </a:r>
          </a:p>
        </p:txBody>
      </p:sp>
      <p:sp>
        <p:nvSpPr>
          <p:cNvPr id="29" name="TextBox 28"/>
          <p:cNvSpPr txBox="1"/>
          <p:nvPr/>
        </p:nvSpPr>
        <p:spPr>
          <a:xfrm>
            <a:off x="8307628" y="5300979"/>
            <a:ext cx="3070250" cy="768096"/>
          </a:xfrm>
          <a:prstGeom prst="rect">
            <a:avLst/>
          </a:prstGeom>
          <a:noFill/>
        </p:spPr>
        <p:txBody>
          <a:bodyPr wrap="square" anchor="t" lIns="0" rIns="0" tIns="0" bIns="0">
            <a:spAutoFit/>
          </a:bodyPr>
          <a:lstStyle/>
          <a:p>
            <a:pPr algn="l">
              <a:lnSpc>
                <a:spcPct val="120000"/>
              </a:lnSpc>
              <a:spcAft>
                <a:spcPts val="400"/>
              </a:spcAft>
            </a:pPr>
            <a:r>
              <a:rPr sz="1050" b="0" i="0">
                <a:solidFill>
                  <a:srgbClr val="5A6484"/>
                </a:solidFill>
                <a:latin typeface="Calibri"/>
              </a:rPr>
              <a:t>Six paid services, any of which can fail or price-change. Mitigation: interface isolation with working fallbacks for every one.</a:t>
            </a:r>
          </a:p>
        </p:txBody>
      </p:sp>
      <p:sp>
        <p:nvSpPr>
          <p:cNvPr id="30" name="TextBox 29"/>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237744"/>
          </a:xfrm>
          <a:prstGeom prst="rect">
            <a:avLst/>
          </a:prstGeom>
          <a:noFill/>
        </p:spPr>
        <p:txBody>
          <a:bodyPr wrap="square" anchor="t" lIns="0" rIns="0" tIns="0" bIns="0">
            <a:spAutoFit/>
          </a:bodyPr>
          <a:lstStyle/>
          <a:p>
            <a:pPr algn="l">
              <a:lnSpc>
                <a:spcPct val="118000"/>
              </a:lnSpc>
              <a:spcAft>
                <a:spcPts val="400"/>
              </a:spcAft>
            </a:pPr>
            <a:r>
              <a:rPr sz="1050" b="1" i="0">
                <a:solidFill>
                  <a:srgbClr val="E8A33D"/>
                </a:solidFill>
                <a:latin typeface="Calibri"/>
              </a:rPr>
              <a:t>PROJECT PLAN</a:t>
            </a:r>
          </a:p>
        </p:txBody>
      </p:sp>
      <p:sp>
        <p:nvSpPr>
          <p:cNvPr id="4" name="TextBox 3"/>
          <p:cNvSpPr txBox="1"/>
          <p:nvPr/>
        </p:nvSpPr>
        <p:spPr>
          <a:xfrm>
            <a:off x="594360" y="676656"/>
            <a:ext cx="11002975" cy="950976"/>
          </a:xfrm>
          <a:prstGeom prst="rect">
            <a:avLst/>
          </a:prstGeom>
          <a:noFill/>
        </p:spPr>
        <p:txBody>
          <a:bodyPr wrap="square" anchor="t" lIns="0" rIns="0" tIns="0" bIns="0">
            <a:spAutoFit/>
          </a:bodyPr>
          <a:lstStyle/>
          <a:p>
            <a:pPr algn="l">
              <a:lnSpc>
                <a:spcPct val="106000"/>
              </a:lnSpc>
              <a:spcAft>
                <a:spcPts val="400"/>
              </a:spcAft>
            </a:pPr>
            <a:r>
              <a:rPr sz="3000" b="1" i="0">
                <a:solidFill>
                  <a:srgbClr val="0F1631"/>
                </a:solidFill>
                <a:latin typeface="Cambria"/>
              </a:rPr>
              <a:t>Phased delivery plan — ten phases, each ending in a working system</a:t>
            </a:r>
          </a:p>
        </p:txBody>
      </p:sp>
      <p:sp>
        <p:nvSpPr>
          <p:cNvPr id="5" name="Rounded Rectangle 4"/>
          <p:cNvSpPr/>
          <p:nvPr/>
        </p:nvSpPr>
        <p:spPr>
          <a:xfrm>
            <a:off x="594360" y="1664208"/>
            <a:ext cx="11002975" cy="402336"/>
          </a:xfrm>
          <a:prstGeom prst="roundRect">
            <a:avLst>
              <a:gd name="adj" fmla="val 4500"/>
            </a:avLst>
          </a:prstGeom>
          <a:solidFill>
            <a:srgbClr val="0F1631"/>
          </a:solidFill>
          <a:ln w="12700">
            <a:solidFill>
              <a:srgbClr val="0F16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0664" y="1719072"/>
            <a:ext cx="922858" cy="292608"/>
          </a:xfrm>
          <a:prstGeom prst="rect">
            <a:avLst/>
          </a:prstGeom>
          <a:noFill/>
        </p:spPr>
        <p:txBody>
          <a:bodyPr wrap="square" anchor="ctr" lIns="0" rIns="0" tIns="0" bIns="0">
            <a:spAutoFit/>
          </a:bodyPr>
          <a:lstStyle/>
          <a:p>
            <a:pPr algn="l">
              <a:lnSpc>
                <a:spcPct val="118000"/>
              </a:lnSpc>
              <a:spcAft>
                <a:spcPts val="400"/>
              </a:spcAft>
            </a:pPr>
            <a:r>
              <a:rPr sz="1000" b="1" i="0">
                <a:solidFill>
                  <a:srgbClr val="FFFFFF"/>
                </a:solidFill>
                <a:latin typeface="Calibri"/>
              </a:rPr>
              <a:t>Phase</a:t>
            </a:r>
          </a:p>
        </p:txBody>
      </p:sp>
      <p:sp>
        <p:nvSpPr>
          <p:cNvPr id="7" name="TextBox 6"/>
          <p:cNvSpPr txBox="1"/>
          <p:nvPr/>
        </p:nvSpPr>
        <p:spPr>
          <a:xfrm>
            <a:off x="1919554" y="1719072"/>
            <a:ext cx="2971881" cy="292608"/>
          </a:xfrm>
          <a:prstGeom prst="rect">
            <a:avLst/>
          </a:prstGeom>
          <a:noFill/>
        </p:spPr>
        <p:txBody>
          <a:bodyPr wrap="square" anchor="ctr" lIns="0" rIns="0" tIns="0" bIns="0">
            <a:spAutoFit/>
          </a:bodyPr>
          <a:lstStyle/>
          <a:p>
            <a:pPr algn="l">
              <a:lnSpc>
                <a:spcPct val="118000"/>
              </a:lnSpc>
              <a:spcAft>
                <a:spcPts val="400"/>
              </a:spcAft>
            </a:pPr>
            <a:r>
              <a:rPr sz="1000" b="1" i="0">
                <a:solidFill>
                  <a:srgbClr val="FFFFFF"/>
                </a:solidFill>
                <a:latin typeface="Calibri"/>
              </a:rPr>
              <a:t>Focus</a:t>
            </a:r>
          </a:p>
        </p:txBody>
      </p:sp>
      <p:sp>
        <p:nvSpPr>
          <p:cNvPr id="8" name="TextBox 7"/>
          <p:cNvSpPr txBox="1"/>
          <p:nvPr/>
        </p:nvSpPr>
        <p:spPr>
          <a:xfrm>
            <a:off x="5147467" y="1719072"/>
            <a:ext cx="6340139" cy="292608"/>
          </a:xfrm>
          <a:prstGeom prst="rect">
            <a:avLst/>
          </a:prstGeom>
          <a:noFill/>
        </p:spPr>
        <p:txBody>
          <a:bodyPr wrap="square" anchor="ctr" lIns="0" rIns="0" tIns="0" bIns="0">
            <a:spAutoFit/>
          </a:bodyPr>
          <a:lstStyle/>
          <a:p>
            <a:pPr algn="l">
              <a:lnSpc>
                <a:spcPct val="118000"/>
              </a:lnSpc>
              <a:spcAft>
                <a:spcPts val="400"/>
              </a:spcAft>
            </a:pPr>
            <a:r>
              <a:rPr sz="1000" b="1" i="0">
                <a:solidFill>
                  <a:srgbClr val="FFFFFF"/>
                </a:solidFill>
                <a:latin typeface="Calibri"/>
              </a:rPr>
              <a:t>Delivered in that phase</a:t>
            </a:r>
          </a:p>
        </p:txBody>
      </p:sp>
      <p:sp>
        <p:nvSpPr>
          <p:cNvPr id="9" name="Rounded Rectangle 8"/>
          <p:cNvSpPr/>
          <p:nvPr/>
        </p:nvSpPr>
        <p:spPr>
          <a:xfrm>
            <a:off x="594360" y="2066544"/>
            <a:ext cx="11002975" cy="502920"/>
          </a:xfrm>
          <a:prstGeom prst="roundRect">
            <a:avLst>
              <a:gd name="adj" fmla="val 1000"/>
            </a:avLst>
          </a:prstGeom>
          <a:solidFill>
            <a:srgbClr val="EEF2FA"/>
          </a:solidFill>
          <a:ln w="12700">
            <a:solidFill>
              <a:srgbClr val="EEF2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0664" y="2084832"/>
            <a:ext cx="922858"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1–2</a:t>
            </a:r>
          </a:p>
        </p:txBody>
      </p:sp>
      <p:sp>
        <p:nvSpPr>
          <p:cNvPr id="11" name="TextBox 10"/>
          <p:cNvSpPr txBox="1"/>
          <p:nvPr/>
        </p:nvSpPr>
        <p:spPr>
          <a:xfrm>
            <a:off x="1919554" y="2084832"/>
            <a:ext cx="2971881"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Channel and foundations</a:t>
            </a:r>
          </a:p>
        </p:txBody>
      </p:sp>
      <p:sp>
        <p:nvSpPr>
          <p:cNvPr id="12" name="TextBox 11"/>
          <p:cNvSpPr txBox="1"/>
          <p:nvPr/>
        </p:nvSpPr>
        <p:spPr>
          <a:xfrm>
            <a:off x="5147467" y="2084832"/>
            <a:ext cx="6340139"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Webhook, signature verification, message normalisation, database, migrations</a:t>
            </a:r>
          </a:p>
        </p:txBody>
      </p:sp>
      <p:sp>
        <p:nvSpPr>
          <p:cNvPr id="13" name="TextBox 12"/>
          <p:cNvSpPr txBox="1"/>
          <p:nvPr/>
        </p:nvSpPr>
        <p:spPr>
          <a:xfrm>
            <a:off x="740664" y="2587752"/>
            <a:ext cx="922858"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3</a:t>
            </a:r>
          </a:p>
        </p:txBody>
      </p:sp>
      <p:sp>
        <p:nvSpPr>
          <p:cNvPr id="14" name="TextBox 13"/>
          <p:cNvSpPr txBox="1"/>
          <p:nvPr/>
        </p:nvSpPr>
        <p:spPr>
          <a:xfrm>
            <a:off x="1919554" y="2587752"/>
            <a:ext cx="2971881"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Image pipeline</a:t>
            </a:r>
          </a:p>
        </p:txBody>
      </p:sp>
      <p:sp>
        <p:nvSpPr>
          <p:cNvPr id="15" name="TextBox 14"/>
          <p:cNvSpPr txBox="1"/>
          <p:nvPr/>
        </p:nvSpPr>
        <p:spPr>
          <a:xfrm>
            <a:off x="5147467" y="2587752"/>
            <a:ext cx="6340139"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Download with SSRF protection, validation, OCR interface, claim extraction</a:t>
            </a:r>
          </a:p>
        </p:txBody>
      </p:sp>
      <p:sp>
        <p:nvSpPr>
          <p:cNvPr id="16" name="Rounded Rectangle 15"/>
          <p:cNvSpPr/>
          <p:nvPr/>
        </p:nvSpPr>
        <p:spPr>
          <a:xfrm>
            <a:off x="594360" y="3072384"/>
            <a:ext cx="11002975" cy="502920"/>
          </a:xfrm>
          <a:prstGeom prst="roundRect">
            <a:avLst>
              <a:gd name="adj" fmla="val 1000"/>
            </a:avLst>
          </a:prstGeom>
          <a:solidFill>
            <a:srgbClr val="EEF2FA"/>
          </a:solidFill>
          <a:ln w="12700">
            <a:solidFill>
              <a:srgbClr val="EEF2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0664" y="3090672"/>
            <a:ext cx="922858"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4</a:t>
            </a:r>
          </a:p>
        </p:txBody>
      </p:sp>
      <p:sp>
        <p:nvSpPr>
          <p:cNvPr id="18" name="TextBox 17"/>
          <p:cNvSpPr txBox="1"/>
          <p:nvPr/>
        </p:nvSpPr>
        <p:spPr>
          <a:xfrm>
            <a:off x="1919554" y="3090672"/>
            <a:ext cx="2971881"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URL pipeline</a:t>
            </a:r>
          </a:p>
        </p:txBody>
      </p:sp>
      <p:sp>
        <p:nvSpPr>
          <p:cNvPr id="19" name="TextBox 18"/>
          <p:cNvSpPr txBox="1"/>
          <p:nvPr/>
        </p:nvSpPr>
        <p:spPr>
          <a:xfrm>
            <a:off x="5147467" y="3090672"/>
            <a:ext cx="6340139"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Link safety screening, page extraction, source credibility scoring</a:t>
            </a:r>
          </a:p>
        </p:txBody>
      </p:sp>
      <p:sp>
        <p:nvSpPr>
          <p:cNvPr id="20" name="TextBox 19"/>
          <p:cNvSpPr txBox="1"/>
          <p:nvPr/>
        </p:nvSpPr>
        <p:spPr>
          <a:xfrm>
            <a:off x="740664" y="3593592"/>
            <a:ext cx="922858"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5</a:t>
            </a:r>
          </a:p>
        </p:txBody>
      </p:sp>
      <p:sp>
        <p:nvSpPr>
          <p:cNvPr id="21" name="TextBox 20"/>
          <p:cNvSpPr txBox="1"/>
          <p:nvPr/>
        </p:nvSpPr>
        <p:spPr>
          <a:xfrm>
            <a:off x="1919554" y="3593592"/>
            <a:ext cx="2971881"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Audio and video</a:t>
            </a:r>
          </a:p>
        </p:txBody>
      </p:sp>
      <p:sp>
        <p:nvSpPr>
          <p:cNvPr id="22" name="TextBox 21"/>
          <p:cNvSpPr txBox="1"/>
          <p:nvPr/>
        </p:nvSpPr>
        <p:spPr>
          <a:xfrm>
            <a:off x="5147467" y="3593592"/>
            <a:ext cx="6340139"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Transcription, frame sampling, media forensics interfaces</a:t>
            </a:r>
          </a:p>
        </p:txBody>
      </p:sp>
      <p:sp>
        <p:nvSpPr>
          <p:cNvPr id="23" name="Rounded Rectangle 22"/>
          <p:cNvSpPr/>
          <p:nvPr/>
        </p:nvSpPr>
        <p:spPr>
          <a:xfrm>
            <a:off x="594360" y="4078224"/>
            <a:ext cx="11002975" cy="502920"/>
          </a:xfrm>
          <a:prstGeom prst="roundRect">
            <a:avLst>
              <a:gd name="adj" fmla="val 1000"/>
            </a:avLst>
          </a:prstGeom>
          <a:solidFill>
            <a:srgbClr val="EEF2FA"/>
          </a:solidFill>
          <a:ln w="12700">
            <a:solidFill>
              <a:srgbClr val="EEF2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0664" y="4096512"/>
            <a:ext cx="922858"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6</a:t>
            </a:r>
          </a:p>
        </p:txBody>
      </p:sp>
      <p:sp>
        <p:nvSpPr>
          <p:cNvPr id="25" name="TextBox 24"/>
          <p:cNvSpPr txBox="1"/>
          <p:nvPr/>
        </p:nvSpPr>
        <p:spPr>
          <a:xfrm>
            <a:off x="1919554" y="4096512"/>
            <a:ext cx="2971881"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Security gate</a:t>
            </a:r>
          </a:p>
        </p:txBody>
      </p:sp>
      <p:sp>
        <p:nvSpPr>
          <p:cNvPr id="26" name="TextBox 25"/>
          <p:cNvSpPr txBox="1"/>
          <p:nvPr/>
        </p:nvSpPr>
        <p:spPr>
          <a:xfrm>
            <a:off x="5147467" y="4096512"/>
            <a:ext cx="6340139"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Prompt-injection defence, SSRF hardening, abuse protection</a:t>
            </a:r>
          </a:p>
        </p:txBody>
      </p:sp>
      <p:sp>
        <p:nvSpPr>
          <p:cNvPr id="27" name="TextBox 26"/>
          <p:cNvSpPr txBox="1"/>
          <p:nvPr/>
        </p:nvSpPr>
        <p:spPr>
          <a:xfrm>
            <a:off x="740664" y="4599431"/>
            <a:ext cx="922858"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7–8</a:t>
            </a:r>
          </a:p>
        </p:txBody>
      </p:sp>
      <p:sp>
        <p:nvSpPr>
          <p:cNvPr id="28" name="TextBox 27"/>
          <p:cNvSpPr txBox="1"/>
          <p:nvPr/>
        </p:nvSpPr>
        <p:spPr>
          <a:xfrm>
            <a:off x="1919554" y="4599431"/>
            <a:ext cx="2971881"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User-facing surface</a:t>
            </a:r>
          </a:p>
        </p:txBody>
      </p:sp>
      <p:sp>
        <p:nvSpPr>
          <p:cNvPr id="29" name="TextBox 28"/>
          <p:cNvSpPr txBox="1"/>
          <p:nvPr/>
        </p:nvSpPr>
        <p:spPr>
          <a:xfrm>
            <a:off x="5147467" y="4599431"/>
            <a:ext cx="6340139"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Dashboard API, history, PDF reports, localisation, scheduled re-checks</a:t>
            </a:r>
          </a:p>
        </p:txBody>
      </p:sp>
      <p:sp>
        <p:nvSpPr>
          <p:cNvPr id="30" name="Rounded Rectangle 29"/>
          <p:cNvSpPr/>
          <p:nvPr/>
        </p:nvSpPr>
        <p:spPr>
          <a:xfrm>
            <a:off x="594360" y="5084064"/>
            <a:ext cx="11002975" cy="502920"/>
          </a:xfrm>
          <a:prstGeom prst="roundRect">
            <a:avLst>
              <a:gd name="adj" fmla="val 1000"/>
            </a:avLst>
          </a:prstGeom>
          <a:solidFill>
            <a:srgbClr val="EEF2FA"/>
          </a:solidFill>
          <a:ln w="12700">
            <a:solidFill>
              <a:srgbClr val="EEF2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0664" y="5102352"/>
            <a:ext cx="922858"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9</a:t>
            </a:r>
          </a:p>
        </p:txBody>
      </p:sp>
      <p:sp>
        <p:nvSpPr>
          <p:cNvPr id="32" name="TextBox 31"/>
          <p:cNvSpPr txBox="1"/>
          <p:nvPr/>
        </p:nvSpPr>
        <p:spPr>
          <a:xfrm>
            <a:off x="1919554" y="5102352"/>
            <a:ext cx="2971881"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Trust and operations</a:t>
            </a:r>
          </a:p>
        </p:txBody>
      </p:sp>
      <p:sp>
        <p:nvSpPr>
          <p:cNvPr id="33" name="TextBox 32"/>
          <p:cNvSpPr txBox="1"/>
          <p:nvPr/>
        </p:nvSpPr>
        <p:spPr>
          <a:xfrm>
            <a:off x="5147467" y="5102352"/>
            <a:ext cx="6340139"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Admin roles, appeals, moderation, audit logging, provider monitoring</a:t>
            </a:r>
          </a:p>
        </p:txBody>
      </p:sp>
      <p:sp>
        <p:nvSpPr>
          <p:cNvPr id="34" name="TextBox 33"/>
          <p:cNvSpPr txBox="1"/>
          <p:nvPr/>
        </p:nvSpPr>
        <p:spPr>
          <a:xfrm>
            <a:off x="740664" y="5605272"/>
            <a:ext cx="922858"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10</a:t>
            </a:r>
          </a:p>
        </p:txBody>
      </p:sp>
      <p:sp>
        <p:nvSpPr>
          <p:cNvPr id="35" name="TextBox 34"/>
          <p:cNvSpPr txBox="1"/>
          <p:nvPr/>
        </p:nvSpPr>
        <p:spPr>
          <a:xfrm>
            <a:off x="1919554" y="5605272"/>
            <a:ext cx="2971881"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Release verification</a:t>
            </a:r>
          </a:p>
        </p:txBody>
      </p:sp>
      <p:sp>
        <p:nvSpPr>
          <p:cNvPr id="36" name="TextBox 35"/>
          <p:cNvSpPr txBox="1"/>
          <p:nvPr/>
        </p:nvSpPr>
        <p:spPr>
          <a:xfrm>
            <a:off x="5147467" y="5605272"/>
            <a:ext cx="6340139" cy="466344"/>
          </a:xfrm>
          <a:prstGeom prst="rect">
            <a:avLst/>
          </a:prstGeom>
          <a:noFill/>
        </p:spPr>
        <p:txBody>
          <a:bodyPr wrap="square" anchor="ctr" lIns="0" rIns="0" tIns="0" bIns="0">
            <a:spAutoFit/>
          </a:bodyPr>
          <a:lstStyle/>
          <a:p>
            <a:pPr algn="l">
              <a:lnSpc>
                <a:spcPct val="118000"/>
              </a:lnSpc>
              <a:spcAft>
                <a:spcPts val="400"/>
              </a:spcAft>
            </a:pPr>
            <a:r>
              <a:rPr sz="1050" b="0" i="0">
                <a:solidFill>
                  <a:srgbClr val="5A6484"/>
                </a:solidFill>
                <a:latin typeface="Calibri"/>
              </a:rPr>
              <a:t>Full regression, migration cycle, load testing, deployment configuration</a:t>
            </a:r>
          </a:p>
        </p:txBody>
      </p:sp>
      <p:sp>
        <p:nvSpPr>
          <p:cNvPr id="37" name="TextBox 36"/>
          <p:cNvSpPr txBox="1"/>
          <p:nvPr/>
        </p:nvSpPr>
        <p:spPr>
          <a:xfrm>
            <a:off x="594360" y="6263640"/>
            <a:ext cx="6766560" cy="237744"/>
          </a:xfrm>
          <a:prstGeom prst="rect">
            <a:avLst/>
          </a:prstGeom>
          <a:noFill/>
        </p:spPr>
        <p:txBody>
          <a:bodyPr wrap="square" anchor="t" lIns="0" rIns="0" tIns="0" bIns="0">
            <a:spAutoFit/>
          </a:bodyPr>
          <a:lstStyle/>
          <a:p>
            <a:pPr algn="l">
              <a:lnSpc>
                <a:spcPct val="118000"/>
              </a:lnSpc>
              <a:spcAft>
                <a:spcPts val="400"/>
              </a:spcAft>
            </a:pPr>
            <a:r>
              <a:rPr sz="900" b="0" i="0">
                <a:solidFill>
                  <a:srgbClr val="8A93AD"/>
                </a:solidFill>
                <a:latin typeface="Calibri"/>
              </a:rPr>
              <a:t>SathyaScan · Review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737360" y="3749039"/>
            <a:ext cx="4937760" cy="4937760"/>
          </a:xfrm>
          <a:prstGeom prst="ellipse">
            <a:avLst/>
          </a:prstGeom>
          <a:solidFill>
            <a:srgbClr val="1E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051560"/>
            <a:ext cx="10058400" cy="914400"/>
          </a:xfrm>
          <a:prstGeom prst="rect">
            <a:avLst/>
          </a:prstGeom>
          <a:noFill/>
        </p:spPr>
        <p:txBody>
          <a:bodyPr wrap="square" anchor="t" lIns="0" rIns="0" tIns="0" bIns="0">
            <a:spAutoFit/>
          </a:bodyPr>
          <a:lstStyle/>
          <a:p>
            <a:pPr algn="l">
              <a:lnSpc>
                <a:spcPct val="106000"/>
              </a:lnSpc>
              <a:spcAft>
                <a:spcPts val="400"/>
              </a:spcAft>
            </a:pPr>
            <a:r>
              <a:rPr sz="4000" b="1" i="0">
                <a:solidFill>
                  <a:srgbClr val="FFFFFF"/>
                </a:solidFill>
                <a:latin typeface="Cambria"/>
              </a:rPr>
              <a:t>What review 2 will show</a:t>
            </a:r>
          </a:p>
        </p:txBody>
      </p:sp>
      <p:sp>
        <p:nvSpPr>
          <p:cNvPr id="5" name="TextBox 4"/>
          <p:cNvSpPr txBox="1"/>
          <p:nvPr/>
        </p:nvSpPr>
        <p:spPr>
          <a:xfrm>
            <a:off x="594360" y="2395728"/>
            <a:ext cx="9966960" cy="3108960"/>
          </a:xfrm>
          <a:prstGeom prst="rect">
            <a:avLst/>
          </a:prstGeom>
          <a:noFill/>
        </p:spPr>
        <p:txBody>
          <a:bodyPr wrap="square" anchor="t" lIns="0" rIns="0" tIns="0" bIns="0">
            <a:spAutoFit/>
          </a:bodyPr>
          <a:lstStyle/>
          <a:p>
            <a:pPr algn="l">
              <a:lnSpc>
                <a:spcPct val="124000"/>
              </a:lnSpc>
              <a:spcAft>
                <a:spcPts val="1100"/>
              </a:spcAft>
            </a:pPr>
            <a:r>
              <a:rPr sz="1500" b="0" i="0">
                <a:solidFill>
                  <a:srgbClr val="8A93AD"/>
                </a:solidFill>
                <a:latin typeface="Calibri"/>
              </a:rPr>
              <a:t>•  A working WhatsApp pipeline handling text, URL, image and audio input end to end</a:t>
            </a:r>
          </a:p>
          <a:p>
            <a:pPr algn="l">
              <a:lnSpc>
                <a:spcPct val="124000"/>
              </a:lnSpc>
              <a:spcAft>
                <a:spcPts val="1100"/>
              </a:spcAft>
            </a:pPr>
            <a:r>
              <a:rPr sz="1500" b="0" i="0">
                <a:solidFill>
                  <a:srgbClr val="8A93AD"/>
                </a:solidFill>
                <a:latin typeface="Calibri"/>
              </a:rPr>
              <a:t>•  The deterministic classification guard implemented and tested — the model proposes, code decides</a:t>
            </a:r>
          </a:p>
          <a:p>
            <a:pPr algn="l">
              <a:lnSpc>
                <a:spcPct val="124000"/>
              </a:lnSpc>
              <a:spcAft>
                <a:spcPts val="1100"/>
              </a:spcAft>
            </a:pPr>
            <a:r>
              <a:rPr sz="1500" b="0" i="0">
                <a:solidFill>
                  <a:srgbClr val="8A93AD"/>
                </a:solidFill>
                <a:latin typeface="Calibri"/>
              </a:rPr>
              <a:t>•  A relational schema with reversible migrations, holding analyses, verdicts and evidence</a:t>
            </a:r>
          </a:p>
          <a:p>
            <a:pPr algn="l">
              <a:lnSpc>
                <a:spcPct val="124000"/>
              </a:lnSpc>
              <a:spcAft>
                <a:spcPts val="1100"/>
              </a:spcAft>
            </a:pPr>
            <a:r>
              <a:rPr sz="1500" b="0" i="0">
                <a:solidFill>
                  <a:srgbClr val="8A93AD"/>
                </a:solidFill>
                <a:latin typeface="Calibri"/>
              </a:rPr>
              <a:t>•  Privacy controls implemented: encrypted identifiers, minimal retention, user-controlled privacy mode</a:t>
            </a:r>
          </a:p>
          <a:p>
            <a:pPr algn="l">
              <a:lnSpc>
                <a:spcPct val="124000"/>
              </a:lnSpc>
              <a:spcAft>
                <a:spcPts val="1100"/>
              </a:spcAft>
            </a:pPr>
            <a:r>
              <a:rPr sz="1500" b="0" i="0">
                <a:solidFill>
                  <a:srgbClr val="8A93AD"/>
                </a:solidFill>
                <a:latin typeface="Calibri"/>
              </a:rPr>
              <a:t>•  A test suite covering every pipeline stage, including the failure paths</a:t>
            </a:r>
          </a:p>
          <a:p>
            <a:pPr algn="l">
              <a:lnSpc>
                <a:spcPct val="124000"/>
              </a:lnSpc>
              <a:spcAft>
                <a:spcPts val="1100"/>
              </a:spcAft>
            </a:pPr>
            <a:r>
              <a:rPr sz="1500" b="0" i="0">
                <a:solidFill>
                  <a:srgbClr val="8A93AD"/>
                </a:solidFill>
                <a:latin typeface="Calibri"/>
              </a:rPr>
              <a:t>•  An honest capability report distinguishing what is verified from what is merely built</a:t>
            </a:r>
          </a:p>
        </p:txBody>
      </p:sp>
      <p:sp>
        <p:nvSpPr>
          <p:cNvPr id="6" name="TextBox 5"/>
          <p:cNvSpPr txBox="1"/>
          <p:nvPr/>
        </p:nvSpPr>
        <p:spPr>
          <a:xfrm>
            <a:off x="594360" y="5943600"/>
            <a:ext cx="10058400" cy="365760"/>
          </a:xfrm>
          <a:prstGeom prst="rect">
            <a:avLst/>
          </a:prstGeom>
          <a:noFill/>
        </p:spPr>
        <p:txBody>
          <a:bodyPr wrap="square" anchor="t" lIns="0" rIns="0" tIns="0" bIns="0">
            <a:spAutoFit/>
          </a:bodyPr>
          <a:lstStyle/>
          <a:p>
            <a:pPr algn="l">
              <a:lnSpc>
                <a:spcPct val="118000"/>
              </a:lnSpc>
              <a:spcAft>
                <a:spcPts val="400"/>
              </a:spcAft>
            </a:pPr>
            <a:r>
              <a:rPr sz="1150" b="1" i="0">
                <a:solidFill>
                  <a:srgbClr val="E8A33D"/>
                </a:solidFill>
                <a:latin typeface="Calibri"/>
              </a:rPr>
              <a:t>Review 1 ends here  ·  Next: design and implementation depth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