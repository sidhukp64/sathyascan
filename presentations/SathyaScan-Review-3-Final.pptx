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review has two halves and both matter. The first is the finished system. The second is a precise account of what has and has not been proven — which is the part that makes the first half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card is the product's real differentiator. Anything can produce a confident answer; declining to is the hard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test-to-code ratio and the locked-decision count are the two numbers I would point a reviewer at. They say more about how this was built than the line count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layers now — the Trust layer is what phase 9 added, and it is what turns a working pipeline into something that can be operated accountably.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spend time on if there is time for only one technical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two rules are why the taxonomy has five members instead of three. Each one was a documented decision with a legal or epistemic reason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card came from a real bug: the default PDF font rendered Malayalam as boxes. We now check coverage per character before writing a glyph, which is why reports in all four scripts are genuinely readable.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right column is the important one. We built the mechanisms a compliance review would look for, and then refused to describe the result as compliance. That restraint is a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card is my favourite piece of design in the project: rather than carefully avoiding a join that would deanonymise trend data, we made the join impossible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2 is worth explaining: using distinct dependencies rather than one function that checks a role means the two authority levels cannot be conflated by a refactor or a missing else-branch.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'does it work', this is the honest answer slide. The pipeline works; the external integrations are built and unproven, and we distinguish those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honest shape of the OCR gate: we removed the engineering blocker and the remaining blocker is data collection, which no amount of code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zero is deliberate and worth saying out loud: across ten phases, no previously passing test was ever removed or loosened to get a green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 questions here, and answer them directly. Nothing on this slide is a surprise discovered at the end — every row was tracked from the phase it arose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direct about this if asked whether it can go live. The system is ready to demonstrate; it is not ready to publish, and the reason is a vendor and a lawyer, not missing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of these is specific and actionable, and several are already scoped in the project's own risk register rather than invented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last point. The engineering is the visible half; knowing and stating exactly what has not been proven is what makes it trustworthy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-1371600"/>
            <a:ext cx="5486400" cy="5486400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3246120"/>
            <a:ext cx="2194560" cy="2194560"/>
          </a:xfrm>
          <a:prstGeom prst="ellipse">
            <a:avLst/>
          </a:prstGeom>
          <a:noFill/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7863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 i="0">
                <a:solidFill>
                  <a:srgbClr val="E8A33D"/>
                </a:solidFill>
                <a:latin typeface="Calibri"/>
              </a:rPr>
              <a:t>FINAL REVIEW · COMPLETE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27632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Cambria"/>
              </a:rPr>
              <a:t>SathyaScan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29584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solidFill>
                  <a:srgbClr val="8A93AD"/>
                </a:solidFill>
                <a:latin typeface="Calibri"/>
              </a:rPr>
              <a:t>A complete multilingual fact-checking agent for WhatsApp — what was built,
what was verified, and what remains gated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33872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0" i="0">
                <a:solidFill>
                  <a:srgbClr val="8A93AD"/>
                </a:solidFill>
                <a:latin typeface="Calibri"/>
              </a:rPr>
              <a:t>Project review presentation  ·  Stage 3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What SathyaScan does</a:t>
            </a:r>
          </a:p>
        </p:txBody>
      </p:sp>
      <p:sp>
        <p:nvSpPr>
          <p:cNvPr id="5" name="Chevron 4"/>
          <p:cNvSpPr/>
          <p:nvPr/>
        </p:nvSpPr>
        <p:spPr>
          <a:xfrm>
            <a:off x="594360" y="1664208"/>
            <a:ext cx="2127443" cy="1005840"/>
          </a:xfrm>
          <a:prstGeom prst="chevron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0" bIns="0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Forward
anything</a:t>
            </a:r>
          </a:p>
        </p:txBody>
      </p:sp>
      <p:sp>
        <p:nvSpPr>
          <p:cNvPr id="6" name="Chevron 5"/>
          <p:cNvSpPr/>
          <p:nvPr/>
        </p:nvSpPr>
        <p:spPr>
          <a:xfrm>
            <a:off x="2813243" y="1664208"/>
            <a:ext cx="2127443" cy="1005840"/>
          </a:xfrm>
          <a:prstGeom prst="chevron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0" bIns="0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Extract
the claim</a:t>
            </a:r>
          </a:p>
        </p:txBody>
      </p:sp>
      <p:sp>
        <p:nvSpPr>
          <p:cNvPr id="7" name="Chevron 6"/>
          <p:cNvSpPr/>
          <p:nvPr/>
        </p:nvSpPr>
        <p:spPr>
          <a:xfrm>
            <a:off x="5032126" y="1664208"/>
            <a:ext cx="2127443" cy="1005840"/>
          </a:xfrm>
          <a:prstGeom prst="chevron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0" bIns="0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Retrieve
evidence</a:t>
            </a:r>
          </a:p>
        </p:txBody>
      </p:sp>
      <p:sp>
        <p:nvSpPr>
          <p:cNvPr id="8" name="Chevron 7"/>
          <p:cNvSpPr/>
          <p:nvPr/>
        </p:nvSpPr>
        <p:spPr>
          <a:xfrm>
            <a:off x="7251009" y="1664208"/>
            <a:ext cx="2127443" cy="1005840"/>
          </a:xfrm>
          <a:prstGeom prst="chevron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0" bIns="0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Classify
+ guard</a:t>
            </a:r>
          </a:p>
        </p:txBody>
      </p:sp>
      <p:sp>
        <p:nvSpPr>
          <p:cNvPr id="9" name="Chevron 8"/>
          <p:cNvSpPr/>
          <p:nvPr/>
        </p:nvSpPr>
        <p:spPr>
          <a:xfrm>
            <a:off x="9469892" y="1664208"/>
            <a:ext cx="2127443" cy="1005840"/>
          </a:xfrm>
          <a:prstGeom prst="chevron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54864" tIns="0" bIns="0"/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FFFFFF"/>
                </a:solidFill>
                <a:latin typeface="Calibri"/>
              </a:rPr>
              <a:t>Reply with
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962656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3816" y="3200400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3712463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Meets users where the message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967225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No app, no signup, no new habit. The interface is the forward button the user already uses every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962656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34175" y="3200400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4175" y="3712463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Handles what people actually send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3967225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Typed text, links, screenshots, photos of newsprint and voice notes — not just clean typed claims.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781042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13816" y="5018786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5530850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Answers with evidence, in their 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5785612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Every verdict cites the sources it retrieved, written in Malayalam, Tamil, Hindi or English.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4719" y="4781042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34175" y="5018786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5530850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Refuses to fake certainty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4175" y="5785612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Where the evidence will not support a verdict, it says so — two of the five statuses exist for exactly that.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The finished system, by the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3496970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847088"/>
            <a:ext cx="309463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747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05456"/>
            <a:ext cx="30946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automated tests passing — zero failures, none skipped or weakened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7362" y="1664208"/>
            <a:ext cx="3496970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48530" y="1847088"/>
            <a:ext cx="309463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16,335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8530" y="2505456"/>
            <a:ext cx="30946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lines of application code across 148 modules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0364" y="1664208"/>
            <a:ext cx="3496970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01532" y="1847088"/>
            <a:ext cx="309463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13,794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1532" y="2505456"/>
            <a:ext cx="309463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lines of test code — close to a 1:1 ratio with the application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01568"/>
            <a:ext cx="2558719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358444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4242816"/>
            <a:ext cx="21563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API endpoints, pinned by an inventory test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9111" y="3401568"/>
            <a:ext cx="2558719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10279" y="358444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0279" y="4242816"/>
            <a:ext cx="21563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database tables under 8 reversible migrations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863" y="3401568"/>
            <a:ext cx="2558719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5031" y="358444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5031" y="4242816"/>
            <a:ext cx="21563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languages localised end to 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8615" y="3401568"/>
            <a:ext cx="2558719" cy="146304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39783" y="358444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783" y="4242816"/>
            <a:ext cx="21563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design decisions formally recorded and locked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Complete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8952" y="1755648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Channel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54096" y="1664208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236975" y="1755648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Webhook receiver  ·  HMAC signature verification  ·  idempotency guard  ·  per-user rate limiting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76856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8952" y="2368296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2276856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236975" y="2368296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Input router  ·  claim extraction  ·  evidence retrieval  ·  classification guard  ·  reply composer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9504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8952" y="2980944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54096" y="2889504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36975" y="2980944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OCR  ·  speech-to-text  ·  URL safety  ·  media forensics  ·  evidence search  ·  source credibility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502152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8952" y="3593592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Providers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54096" y="3502152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236975" y="3593592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Claude  ·  Tavily  ·  Sarvam  ·  Resemble  ·  each behind an interface with a Null fallback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14800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8952" y="4206240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Trust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54096" y="4114800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236975" y="4206240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Admin roles  ·  appeals  ·  moderation queue  ·  append-only audit log  ·  provider health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27448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8952" y="4818888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54096" y="4727448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236975" y="4818888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PostgreSQL via async SQLAlchemy  ·  Alembic migrations  ·  Redis for limits, dedupe, revocation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40096"/>
            <a:ext cx="2331720" cy="512064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8952" y="5431536"/>
            <a:ext cx="200253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Delivery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54096" y="5340096"/>
            <a:ext cx="8543239" cy="51206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236975" y="5431536"/>
            <a:ext cx="817747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Localised templates (4 languages)  ·  dashboard API  ·  Unicode PDF reports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CORE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The decision that makes the verdicts trustworthy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700784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664208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The model proposes a verdict; it does not issue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47672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Claude returns a suggested status, a confidence score and its reasoning. All of it is advisory input to a decision made elsewhere.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582418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545842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Python recomputes the status independently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29306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Ordinary deterministic code derives the final status from the evidence actually retrieved — how much there is, whether it agrees, and how credible each source is.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64052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427476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On disagreement, code wins and the override is recorded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710940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The model can be wrong, but it cannot be wrong and unchallenged. Every override is stored, so how often the model overreaches is a measurable quantity rather than a guess.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608576"/>
            <a:ext cx="11002975" cy="1170432"/>
          </a:xfrm>
          <a:prstGeom prst="roundRect">
            <a:avLst>
              <a:gd name="adj" fmla="val 4500"/>
            </a:avLst>
          </a:prstGeom>
          <a:solidFill>
            <a:srgbClr val="FDF3E0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86968" y="4846320"/>
            <a:ext cx="420624" cy="42062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4809744"/>
            <a:ext cx="97776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Why a fact-checker cannot skip this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An LLM asked to judge a claim produces a fluent, confident verdict whether or not the evidence supports one. For a product whose entire value is being right about facts, that is the most dangerous failure mode there is — so the verdict a user sees is never the one the model wrote.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Five verdicts, and the distinction we protect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2054291" cy="118643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13816" y="1911095"/>
            <a:ext cx="164592" cy="16459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359347" cy="4310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2E7D5B"/>
                </a:solidFill>
                <a:latin typeface="Cambria"/>
              </a:rPr>
              <a:t>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278126"/>
            <a:ext cx="1615379" cy="42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5A6484"/>
                </a:solidFill>
                <a:latin typeface="Calibri"/>
              </a:rPr>
              <a:t>Credible retrievable evidence supports the claim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1531" y="1664208"/>
            <a:ext cx="2054291" cy="118643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3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050987" y="1911095"/>
            <a:ext cx="164592" cy="164592"/>
          </a:xfrm>
          <a:prstGeom prst="ellipse">
            <a:avLst/>
          </a:prstGeom>
          <a:solidFill>
            <a:srgbClr val="B3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8731" y="1847088"/>
            <a:ext cx="1359347" cy="4310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B3282D"/>
                </a:solidFill>
                <a:latin typeface="Cambria"/>
              </a:rPr>
              <a:t>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0987" y="2278126"/>
            <a:ext cx="1615379" cy="42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5A6484"/>
                </a:solidFill>
                <a:latin typeface="Calibri"/>
              </a:rPr>
              <a:t>Credible evidence contradicts the claim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8702" y="1664208"/>
            <a:ext cx="2054291" cy="118643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5288158" y="1911095"/>
            <a:ext cx="164592" cy="164592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5902" y="1847088"/>
            <a:ext cx="1359347" cy="4310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E8A33D"/>
                </a:solidFill>
                <a:latin typeface="Cambria"/>
              </a:rPr>
              <a:t>Misleading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8158" y="2278126"/>
            <a:ext cx="1615379" cy="42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5A6484"/>
                </a:solidFill>
                <a:latin typeface="Calibri"/>
              </a:rPr>
              <a:t>Defensible in isolation, framed to deceive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5873" y="1664208"/>
            <a:ext cx="2054291" cy="118643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5A6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525329" y="1911095"/>
            <a:ext cx="164592" cy="164592"/>
          </a:xfrm>
          <a:prstGeom prst="ellipse">
            <a:avLst/>
          </a:prstGeom>
          <a:solidFill>
            <a:srgbClr val="5A6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63073" y="1847088"/>
            <a:ext cx="1359347" cy="4310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5A6484"/>
                </a:solidFill>
                <a:latin typeface="Cambria"/>
              </a:rPr>
              <a:t>Unverified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329" y="2278126"/>
            <a:ext cx="1615379" cy="42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5A6484"/>
                </a:solidFill>
                <a:latin typeface="Calibri"/>
              </a:rPr>
              <a:t>Evidence was found but is not sufficient either way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43044" y="1664208"/>
            <a:ext cx="2054291" cy="118643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8A93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9762500" y="1911095"/>
            <a:ext cx="164592" cy="164592"/>
          </a:xfrm>
          <a:prstGeom prst="ellipse">
            <a:avLst/>
          </a:prstGeom>
          <a:solidFill>
            <a:srgbClr val="8A9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00244" y="1847088"/>
            <a:ext cx="1359347" cy="4310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1" i="0">
                <a:solidFill>
                  <a:srgbClr val="8A93AD"/>
                </a:solidFill>
                <a:latin typeface="Cambria"/>
              </a:rPr>
              <a:t>Insufficient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2500" y="2278126"/>
            <a:ext cx="1615379" cy="4262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 i="0">
                <a:solidFill>
                  <a:srgbClr val="5A6484"/>
                </a:solidFill>
                <a:latin typeface="Calibri"/>
              </a:rPr>
              <a:t>Too little evidence was retrievable to judge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" y="3161538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3124962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"Unverified" and "insufficient evidence" are not synonyms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" y="3408426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One says the evidence is genuinely mixed; the other says retrieval came up short. Collapsing them would disguise a system failure as a considered judgement, so they are enforced as distinct states in code.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" y="4043172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4006596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High-impact claims face a higher bar before "false"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" y="4290060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Health, election and communal claims require stronger evidence to be labelled false — a deliberate defamation-risk mitigation, not a confidence tweak.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LOCALISATION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Four languages, delivered rather than declared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13816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414016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Detected, not assumed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68778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The detected language drives behaviour; the declared preference is only a hint. Code-mixed input is the expected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719" y="1664208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434175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4175" y="2414016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Never translated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2668778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 claim is analysed in the language it arrived in — translating before checking would add a second error source ahead of any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82594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13816" y="372033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" y="4232402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Every string localised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487164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Verdict labels, risk levels, error messages, notifications and report text all exist in all four languages.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4719" y="3482594"/>
            <a:ext cx="5382615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34175" y="372033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4175" y="4232402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Scripts that actually 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5" y="4487164"/>
            <a:ext cx="4943703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PDF reports embed openly licensed Indic fonts and verify glyph coverage per character, so Malayalam and Tamil cannot silently degrade to empty boxes.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COMPLIANCE POSTURE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Privacy and data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91056"/>
            <a:ext cx="107286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5A6484"/>
                </a:solidFill>
                <a:latin typeface="Calibri"/>
              </a:rPr>
              <a:t>Mechanisms are implemented and testable. Compliance itself is deliberately not claimed.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57984"/>
            <a:ext cx="5364327" cy="2787395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2377439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0F1631"/>
                </a:solidFill>
                <a:latin typeface="Cambria"/>
              </a:rPr>
              <a:t>Implemented and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52928"/>
            <a:ext cx="4815687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Phone numbers encrypted at rest, with a separate keyed hash for lookup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No phone number, OTP or API key appears in any log line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Privacy mode changes retention, not just display — enforced by a scheduled purge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Cascade deletes performed explicitly in Python, never trusted to the database engine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Append-only admin audit log for every privileged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57984"/>
            <a:ext cx="5364327" cy="2787395"/>
          </a:xfrm>
          <a:prstGeom prst="roundRect">
            <a:avLst>
              <a:gd name="adj" fmla="val 4500"/>
            </a:avLst>
          </a:prstGeom>
          <a:solidFill>
            <a:srgbClr val="FDF3E0"/>
          </a:solidFill>
          <a:ln w="12700">
            <a:solidFill>
              <a:srgbClr val="F0DD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07327" y="2377439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 i="0">
                <a:solidFill>
                  <a:srgbClr val="0F1631"/>
                </a:solidFill>
                <a:latin typeface="Cambria"/>
              </a:rPr>
              <a:t>Explicitly not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852928"/>
            <a:ext cx="4815687" cy="19278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The system is described nowhere as DPDP-compliant, and must not be until a lawyer says so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Data-protection mechanisms being present is not the same as compliance being established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•  Retention and erasure behaviour needs legal verification, not just passing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Security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13816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Prompt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68778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Content from OCR, transcripts and fetched pages reaches the model as untrusted data. A message instructing the system to mark itself verified cannot affect the verdict — asserted by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266" y="1664208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60722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0722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SSRF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68778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URL fetching validates the resolved IP, not just the URL string, so internal addresses cannot be reached through a redirect.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8172" y="1664208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07628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7628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Two failure postures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628" y="2668778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Token revocation fails closed; rate limiting fails open. One blanket rule would be wrong twice — a security hole in one direction, an outage in the other.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02634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13816" y="4040377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4552441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Access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807203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Every per-user resource returns 404 rather than 403 for another user's record, so existence itself is not disclosed.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1266" y="3802634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560722" y="4040377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4552441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Media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4807203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Magic-byte checks and decompression-bomb guards run before any decode, tested against real generated fixtures.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8172" y="3802634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307628" y="4040377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628" y="4552441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Structural privacy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7628" y="4807203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The aggregate trends table carries no foreign key to users or analyses at all — deanonymisation is prevented by schema, not by query discipline.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Accountability, not just accuracy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700784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664208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Appeals are available on every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47672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Any user can contest any result. The route is implemented and tested rather than promised in a policy document — which matters because being wrong is inevitable.</a:t>
            </a:r>
          </a:p>
        </p:txBody>
      </p:sp>
      <p:sp>
        <p:nvSpPr>
          <p:cNvPr id="8" name="Oval 7"/>
          <p:cNvSpPr/>
          <p:nvPr/>
        </p:nvSpPr>
        <p:spPr>
          <a:xfrm>
            <a:off x="594360" y="2582418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545842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Two-tier roles enforced by separate code paths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829306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Moderator and administrator authority are distinct FastAPI dependencies, not a runtime branch on a role string — so a privilege check cannot be bypassed by falling through a condition.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464052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" y="3427476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Admin and user sessions cannot be confused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710940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Token type is a structural claim, so a user token can never be presented as an admin token. There is no HTTP route that creates an administrator at all.</a:t>
            </a:r>
          </a:p>
        </p:txBody>
      </p:sp>
      <p:sp>
        <p:nvSpPr>
          <p:cNvPr id="14" name="Oval 13"/>
          <p:cNvSpPr/>
          <p:nvPr/>
        </p:nvSpPr>
        <p:spPr>
          <a:xfrm>
            <a:off x="594360" y="4345686"/>
            <a:ext cx="402336" cy="402336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4309110"/>
            <a:ext cx="1034460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50" b="1" i="0">
                <a:solidFill>
                  <a:srgbClr val="0F1631"/>
                </a:solidFill>
                <a:latin typeface="Cambria"/>
              </a:rPr>
              <a:t>Every privileged action is recorded append-only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592574"/>
            <a:ext cx="10344607" cy="43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Moderation, suspension and appeal decisions are written to an audit log that has no update or delete path.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PROVIDER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Real clients, honest defaults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11002975" cy="402336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0664" y="1719072"/>
            <a:ext cx="394247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External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9167" y="1719072"/>
            <a:ext cx="437679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1999" y="1719072"/>
            <a:ext cx="191560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66544"/>
            <a:ext cx="11002975" cy="420624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2084832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Claude — reasoning and claim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9167" y="2084832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client, unit-tested against a scripted 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1999" y="2084832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Needs a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505456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Tavily — evidence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167" y="2505456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client, unit-tested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1999" y="2505456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Needs a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07792"/>
            <a:ext cx="11002975" cy="420624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2926080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Claude vision — OCR for screenshots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67" y="2926080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client, 12 tests; reuses the same Claude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1999" y="2926080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Opt-in, unmeasured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3346704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Sarvam — speech-to-text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9167" y="3346704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client, unit-tested; chosen for Indic code-mixing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1999" y="3346704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Needs a 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49040"/>
            <a:ext cx="11002975" cy="420624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0664" y="3767328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Resemble — audio and video forensics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9167" y="3767328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client, unit-tested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1999" y="3767328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Needs a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187952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Content-safety vendor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9167" y="4187952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Interface only — no provider selected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71999" y="4187952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B3282D"/>
                </a:solidFill>
                <a:latin typeface="Calibri"/>
              </a:rPr>
              <a:t>Launch blocker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590288"/>
            <a:ext cx="11002975" cy="420624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" y="4608576"/>
            <a:ext cx="394247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Meta WhatsApp Cloud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9167" y="4608576"/>
            <a:ext cx="437679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client; inbound and outbound both implemented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1999" y="4608576"/>
            <a:ext cx="191560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B3282D"/>
                </a:solidFill>
                <a:latin typeface="Calibri"/>
              </a:rPr>
              <a:t>Never called live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248656"/>
            <a:ext cx="11002975" cy="786384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394960"/>
            <a:ext cx="104543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Not one of these has ever been called with real credentials in this environment. A written client is not a working integration, and this project says so per-feature rather than blurring both into "implemented".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QUALITY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Measuring before choosing: the OCR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91056"/>
            <a:ext cx="107286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5A6484"/>
                </a:solidFill>
                <a:latin typeface="Calibri"/>
              </a:rPr>
              <a:t>A locked decision forbids selecting an OCR engine before its per-language accuracy is measured.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57984"/>
            <a:ext cx="5382615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13816" y="239572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907792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What was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162554"/>
            <a:ext cx="4943703" cy="608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 per-language scoring engine (character and word error rate) and a command-line runner over a labelled image set, writing results to the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4719" y="2157984"/>
            <a:ext cx="5382615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34175" y="239572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4175" y="2907792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Failures are never averaged into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4175" y="3162554"/>
            <a:ext cx="4943703" cy="6080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An engine that crashes on 40% of Malayalam images is a different problem from one that returns wrong text. Conflating them would hide the per-language weakness the benchmark exists to find.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136389"/>
            <a:ext cx="5382615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13816" y="4374133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4886197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A known limit, stated plainly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" y="5140959"/>
            <a:ext cx="4943703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Error rate is measured per code point, not per grapheme cluster, so it reads slightly pessimistic for Malayalam and Tamil. Use it to compare engines, not as an absolute score.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4719" y="4136389"/>
            <a:ext cx="5382615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34175" y="4374133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4175" y="4886197"/>
            <a:ext cx="4943703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What is still 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4175" y="5140959"/>
            <a:ext cx="4943703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 labelled Malayalam, Tamil, Hindi and English corpus. The tooling is done; sourcing and native-speaker labelling of the data is human work that remains.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Verification performed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2558719" cy="137160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84708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747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0545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tests passing, zero failures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9111" y="1664208"/>
            <a:ext cx="2558719" cy="137160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10279" y="184708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0279" y="250545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tests skipped or weakened to make a phase pass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3863" y="1664208"/>
            <a:ext cx="2558719" cy="137160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25031" y="184708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031" y="250545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endpoints pinned by an inventory test that fails on drift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8615" y="1664208"/>
            <a:ext cx="2558719" cy="1371600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39783" y="1847088"/>
            <a:ext cx="2156383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800" b="1" i="0">
                <a:solidFill>
                  <a:srgbClr val="0F1631"/>
                </a:solidFill>
                <a:latin typeface="Cambria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783" y="2505456"/>
            <a:ext cx="21563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migrations exercised upgrade → downgrade → upgrade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91840"/>
            <a:ext cx="3509162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13816" y="3529584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4041648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Behaviour over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296410"/>
            <a:ext cx="307025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Tests assert what a caller observes, so refactors do not require rewriting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1266" y="3291840"/>
            <a:ext cx="3509162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560722" y="3529584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4041648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Failure paths are first-class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4296410"/>
            <a:ext cx="307025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Timeouts, malformed payloads, unreachable caches and oversized media all have explicit tests.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8172" y="3291840"/>
            <a:ext cx="3509162" cy="158064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307628" y="3529584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628" y="4041648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Security properties asserted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7628" y="4296410"/>
            <a:ext cx="3070250" cy="448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Injection, SSRF, signature rejection and cross-user access are tests, not intentions.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HONEST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What is proven, and what is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11002975" cy="402336"/>
          </a:xfrm>
          <a:prstGeom prst="roundRect">
            <a:avLst>
              <a:gd name="adj" fmla="val 4500"/>
            </a:avLst>
          </a:prstGeom>
          <a:solidFill>
            <a:srgbClr val="0F1631"/>
          </a:solidFill>
          <a:ln w="12700">
            <a:solidFill>
              <a:srgbClr val="0F16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0664" y="1719072"/>
            <a:ext cx="331993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6630" y="1719072"/>
            <a:ext cx="2494711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7374" y="1719072"/>
            <a:ext cx="442023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that means precisely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066544"/>
            <a:ext cx="11002975" cy="457200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0664" y="2084832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Pipeline, dashboard, trust layer, localisation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6630" y="2084832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2E7D5B"/>
                </a:solidFill>
                <a:latin typeface="Calibri"/>
              </a:rPr>
              <a:t>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374" y="2084832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Implemented and covered by passing automated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542032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External provider integrations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6630" y="2542032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BUILT, UNVALIDATED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7374" y="2542032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clients tested against scripted transports; never called with live credentials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980944"/>
            <a:ext cx="11002975" cy="457200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0664" y="2999232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OCR and speech engine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6630" y="2999232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MEASURABLE, UNMEASURED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7374" y="2999232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Benchmark tooling exists; no labelled corpus, so no engine is selected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3456432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Live WhatsApp message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6630" y="3456432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B3282D"/>
                </a:solidFill>
                <a:latin typeface="Calibri"/>
              </a:rPr>
              <a:t>NEVER EXERCISED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374" y="3456432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No Meta credentials have existed in this environment at any point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895344"/>
            <a:ext cx="11002975" cy="457200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0664" y="3913631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Content-safety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6630" y="3913631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B3282D"/>
                </a:solidFill>
                <a:latin typeface="Calibri"/>
              </a:rPr>
              <a:t>PASSTHROUGH STUB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7374" y="3913631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Performs no real check — a hard blocker for any public launch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370831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DPDP compliance, defamation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6630" y="4370831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B3282D"/>
                </a:solidFill>
                <a:latin typeface="Calibri"/>
              </a:rPr>
              <a:t>LEGAL REVIEW REQUIRED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7374" y="4370831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Mechanisms built; compliance is not claimed and cannot be by engineers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809744"/>
            <a:ext cx="11002975" cy="457200"/>
          </a:xfrm>
          <a:prstGeom prst="roundRect">
            <a:avLst>
              <a:gd name="adj" fmla="val 1000"/>
            </a:avLst>
          </a:prstGeom>
          <a:solidFill>
            <a:srgbClr val="EEF2FA"/>
          </a:solidFill>
          <a:ln w="12700">
            <a:solidFill>
              <a:srgbClr val="EEF2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" y="4828031"/>
            <a:ext cx="331993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Real PostgreSQL and Redis operation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6630" y="4828031"/>
            <a:ext cx="2494711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UNVERIFIED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7374" y="4828031"/>
            <a:ext cx="44202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All tests run on SQLite and a fake Redis; production engines never exercised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486400"/>
            <a:ext cx="11002975" cy="713232"/>
          </a:xfrm>
          <a:prstGeom prst="roundRect">
            <a:avLst>
              <a:gd name="adj" fmla="val 4500"/>
            </a:avLst>
          </a:prstGeom>
          <a:solidFill>
            <a:srgbClr val="FDF3E0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614416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 i="0">
                <a:solidFill>
                  <a:srgbClr val="0F1631"/>
                </a:solidFill>
                <a:latin typeface="Calibri"/>
              </a:rPr>
              <a:t>This slide is a deliverable, not a disclaimer. Any project can claim completion; stating precisely which claims are backed by evidence is what makes the rest believable.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PRE-LAUNCH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Three gates stand between this and a public launch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13816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Credentials and vendors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68778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Meta app approval, keys for Claude, Tavily, Sarvam and Resemble, and a per-language OCR benchmark run against a real corpus.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266" y="1664208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60722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0722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Safety gate 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68778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The passthrough stub must be replaced with a legally reviewed CSAM and illegal-content detection vendor. This is a hard blocker, not a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8172" y="1664208"/>
            <a:ext cx="3509162" cy="1900681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07628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7628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Legal and compliance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628" y="2668778"/>
            <a:ext cx="307025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A defamation audit of the false-versus-misleading policy, and DPDP verification of retention, audit trails and purge behaviour.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50208"/>
            <a:ext cx="11002975" cy="13716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B328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86968" y="4187952"/>
            <a:ext cx="420624" cy="420624"/>
          </a:xfrm>
          <a:prstGeom prst="ellipse">
            <a:avLst/>
          </a:prstGeom>
          <a:solidFill>
            <a:srgbClr val="B3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151376"/>
            <a:ext cx="97776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A controlled demonstration is a different risk profile from a public number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00" b="0" i="0">
                <a:solidFill>
                  <a:srgbClr val="5A6484"/>
                </a:solidFill>
                <a:latin typeface="Calibri"/>
              </a:rPr>
              <a:t>With the safety gate still a stub, a number shared with known participants is a reasonable demonstration. A publicly advertised number is not, because anything can be sent to it and the system would process it. That is a legal exposure question rather than an engineering checkbox, and it is stated here rather than left for someone to discover.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10029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1" i="0">
                <a:solidFill>
                  <a:srgbClr val="E8A33D"/>
                </a:solidFill>
                <a:latin typeface="Calibri"/>
              </a:rPr>
              <a:t>BEYOND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76656"/>
            <a:ext cx="11002975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0F1631"/>
                </a:solidFill>
                <a:latin typeface="Cambria"/>
              </a:rPr>
              <a:t>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64208"/>
            <a:ext cx="3509162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13816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Run the benchmarks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" y="2668778"/>
            <a:ext cx="307025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Source and label an Indic corpus, then measure candidate OCR and speech engines per language and select on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1266" y="1664208"/>
            <a:ext cx="3509162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60722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0722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Proactive re-checks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0722" y="2668778"/>
            <a:ext cx="307025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"Check this tomorrow" needs WhatsApp template approval and a cost model — deliberately kept off the critical path, not abandoned.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8172" y="1664208"/>
            <a:ext cx="3509162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307628" y="1901952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7628" y="2414016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Real-engine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628" y="2668778"/>
            <a:ext cx="307025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Exercise the full migration cycle against PostgreSQL and the suite against real Redis, including a mid-request restart.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642614"/>
            <a:ext cx="3509162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13816" y="388035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4392422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Accuracy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" y="4647184"/>
            <a:ext cx="307025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Build a labelled claim set and measure end-to-end verdict accuracy — currently unmeasured and honestly reported as such.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1266" y="3642614"/>
            <a:ext cx="3509162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560722" y="388035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0722" y="4392422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Human-in-the-loop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0722" y="4647184"/>
            <a:ext cx="307025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Route low-confidence and high-impact verdicts to a human reviewer before delivery.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8172" y="3642614"/>
            <a:ext cx="3509162" cy="1740662"/>
          </a:xfrm>
          <a:prstGeom prst="roundRect">
            <a:avLst>
              <a:gd name="adj" fmla="val 4500"/>
            </a:avLst>
          </a:prstGeom>
          <a:solidFill>
            <a:srgbClr val="EEF2FA"/>
          </a:solidFill>
          <a:ln w="12700">
            <a:solidFill>
              <a:srgbClr val="D4DD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307628" y="3880358"/>
            <a:ext cx="384048" cy="384048"/>
          </a:xfrm>
          <a:prstGeom prst="ellipse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7628" y="4392422"/>
            <a:ext cx="3070250" cy="2913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 i="0">
                <a:solidFill>
                  <a:srgbClr val="0F1631"/>
                </a:solidFill>
                <a:latin typeface="Cambria"/>
              </a:rPr>
              <a:t>Grapheme-aware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7628" y="4647184"/>
            <a:ext cx="307025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 i="0">
                <a:solidFill>
                  <a:srgbClr val="5A6484"/>
                </a:solidFill>
                <a:latin typeface="Calibri"/>
              </a:rPr>
              <a:t>Replace code-point error rate with grapheme-cluster scoring for fairer Malayalam and Tamil measurement.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263640"/>
            <a:ext cx="6766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900" b="0" i="0">
                <a:solidFill>
                  <a:srgbClr val="8A93AD"/>
                </a:solidFill>
                <a:latin typeface="Calibri"/>
              </a:rPr>
              <a:t>SathyaScan · Final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37360" y="3749039"/>
            <a:ext cx="4937760" cy="4937760"/>
          </a:xfrm>
          <a:prstGeom prst="ellipse">
            <a:avLst/>
          </a:prstGeom>
          <a:solidFill>
            <a:srgbClr val="1E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What this project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95728"/>
            <a:ext cx="9966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 i="0">
                <a:solidFill>
                  <a:srgbClr val="8A93AD"/>
                </a:solidFill>
                <a:latin typeface="Calibri"/>
              </a:rPr>
              <a:t>•  A complete multilingual fact-checking pipeline for WhatsApp — text, URL, image and audio, end to end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 i="0">
                <a:solidFill>
                  <a:srgbClr val="8A93AD"/>
                </a:solidFill>
                <a:latin typeface="Calibri"/>
              </a:rPr>
              <a:t>•  A verdict system that recomputes its conclusions in deterministic code rather than trusting a language model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 i="0">
                <a:solidFill>
                  <a:srgbClr val="8A93AD"/>
                </a:solidFill>
                <a:latin typeface="Calibri"/>
              </a:rPr>
              <a:t>•  747 passing tests with no test ever skipped or weakened, across ten phases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 i="0">
                <a:solidFill>
                  <a:srgbClr val="8A93AD"/>
                </a:solidFill>
                <a:latin typeface="Calibri"/>
              </a:rPr>
              <a:t>•  Privacy and security implemented structurally — in the schema and the type system, not as policy text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 i="0">
                <a:solidFill>
                  <a:srgbClr val="8A93AD"/>
                </a:solidFill>
                <a:latin typeface="Calibri"/>
              </a:rPr>
              <a:t>•  A precise, per-feature account of what is proven, what is built but unvalidated, and what is gated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50" b="1" i="0">
                <a:solidFill>
                  <a:srgbClr val="E8A33D"/>
                </a:solidFill>
                <a:latin typeface="Calibri"/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